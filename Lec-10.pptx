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382" r:id="rId2"/>
    <p:sldId id="338" r:id="rId3"/>
    <p:sldId id="286" r:id="rId4"/>
    <p:sldId id="287" r:id="rId5"/>
    <p:sldId id="288" r:id="rId6"/>
    <p:sldId id="289" r:id="rId7"/>
    <p:sldId id="290" r:id="rId8"/>
    <p:sldId id="293" r:id="rId9"/>
    <p:sldId id="306" r:id="rId10"/>
    <p:sldId id="297" r:id="rId11"/>
    <p:sldId id="298" r:id="rId12"/>
    <p:sldId id="295" r:id="rId13"/>
    <p:sldId id="305" r:id="rId14"/>
    <p:sldId id="310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92" d="100"/>
          <a:sy n="92" d="100"/>
        </p:scale>
        <p:origin x="888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8/24/2026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</a:t>
            </a:r>
          </a:p>
          <a:p>
            <a:r>
              <a:rPr lang="en-US" dirty="0"/>
              <a:t>Prof. Saurabh Gandhi,</a:t>
            </a:r>
          </a:p>
          <a:p>
            <a:r>
              <a:rPr lang="en-US" dirty="0"/>
              <a:t>Prof. Ramesh </a:t>
            </a:r>
            <a:r>
              <a:rPr lang="en-US" dirty="0" err="1"/>
              <a:t>Sambangi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F1D46CCF-DF1A-3ED8-3F50-1CB41CC12F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1538" y="4820645"/>
            <a:ext cx="4208923" cy="172616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B9DF7F-5905-4A8C-52D9-7D28859B2B2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Using K-maps to build binary adders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466DC2-637A-9FC9-2CCB-DE9ED7A20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600200"/>
            <a:ext cx="2043505" cy="1557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9BB4C6-FF10-7102-BDA6-BAEC2F4068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1" y="3581400"/>
            <a:ext cx="2552212" cy="2362200"/>
          </a:xfrm>
          <a:prstGeom prst="rect">
            <a:avLst/>
          </a:prstGeom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3E129217-544A-BE5A-FF91-D9B1F41C62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5" t="40246" r="32755"/>
          <a:stretch>
            <a:fillRect/>
          </a:stretch>
        </p:blipFill>
        <p:spPr bwMode="auto">
          <a:xfrm>
            <a:off x="3657600" y="1588532"/>
            <a:ext cx="2438400" cy="145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A9281C93-111F-BB23-EE60-5330E2FF16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95" t="40246" r="32755"/>
          <a:stretch>
            <a:fillRect/>
          </a:stretch>
        </p:blipFill>
        <p:spPr bwMode="auto">
          <a:xfrm>
            <a:off x="6096000" y="1588532"/>
            <a:ext cx="2438400" cy="145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0DF640-547E-5F5F-7B0E-3D298BA499C1}"/>
              </a:ext>
            </a:extLst>
          </p:cNvPr>
          <p:cNvSpPr txBox="1"/>
          <p:nvPr/>
        </p:nvSpPr>
        <p:spPr>
          <a:xfrm>
            <a:off x="4343400" y="1371600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K-map for 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25B2C5D-E52C-A9CC-9E5A-345F5BDB59E9}"/>
              </a:ext>
            </a:extLst>
          </p:cNvPr>
          <p:cNvSpPr txBox="1"/>
          <p:nvPr/>
        </p:nvSpPr>
        <p:spPr>
          <a:xfrm>
            <a:off x="6781800" y="1371600"/>
            <a:ext cx="152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K-map for C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0FB19C-3FB1-CFB9-4A0B-ED35D5BE0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0" y="2960132"/>
            <a:ext cx="4876800" cy="1860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72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22844-BB77-BD12-867C-8D61ACFCF51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Four variable K-maps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6751D3E-F164-846A-846F-7196956425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0"/>
          <a:stretch>
            <a:fillRect/>
          </a:stretch>
        </p:blipFill>
        <p:spPr bwMode="auto">
          <a:xfrm>
            <a:off x="108000" y="1600200"/>
            <a:ext cx="89280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A4AC40-903E-CF51-1158-0BB8928FE42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Four variable example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1C93373-E8FC-C64B-FA60-D7B88BC69F0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00" b="83035"/>
          <a:stretch>
            <a:fillRect/>
          </a:stretch>
        </p:blipFill>
        <p:spPr bwMode="auto">
          <a:xfrm>
            <a:off x="533400" y="1447800"/>
            <a:ext cx="807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3D40E231-CC0D-D32E-122B-1A22D0AE5D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962" r="51887" b="46820"/>
          <a:stretch>
            <a:fillRect/>
          </a:stretch>
        </p:blipFill>
        <p:spPr bwMode="auto">
          <a:xfrm>
            <a:off x="533400" y="1828800"/>
            <a:ext cx="38862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D4043DF3-737F-72EB-F193-35079B8DB9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13" t="16962" b="46820"/>
          <a:stretch>
            <a:fillRect/>
          </a:stretch>
        </p:blipFill>
        <p:spPr bwMode="auto">
          <a:xfrm>
            <a:off x="4419600" y="1828800"/>
            <a:ext cx="4191000" cy="198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CBC762C9-F52A-F08C-73AC-72081150C1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572" b="-541"/>
          <a:stretch>
            <a:fillRect/>
          </a:stretch>
        </p:blipFill>
        <p:spPr bwMode="auto">
          <a:xfrm>
            <a:off x="533400" y="3886200"/>
            <a:ext cx="8077200" cy="251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620FB-B950-FC8C-8796-A485AC0EE9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Prime implicants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12C906C-94CC-A49C-CFC6-32261564BF5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87"/>
          <a:stretch>
            <a:fillRect/>
          </a:stretch>
        </p:blipFill>
        <p:spPr bwMode="auto">
          <a:xfrm>
            <a:off x="283029" y="1676400"/>
            <a:ext cx="8573011" cy="4529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28B47-AFED-5DDF-D295-ACCD09B564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Essential prime implicants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10E574A-A15A-FE21-76C5-A4DF5CB2F9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6" b="25794"/>
          <a:stretch>
            <a:fillRect/>
          </a:stretch>
        </p:blipFill>
        <p:spPr bwMode="auto">
          <a:xfrm>
            <a:off x="419100" y="1447800"/>
            <a:ext cx="830580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EF010206-16D8-A98B-DD57-50D06A6D87B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26" b="1769"/>
          <a:stretch>
            <a:fillRect/>
          </a:stretch>
        </p:blipFill>
        <p:spPr bwMode="auto">
          <a:xfrm>
            <a:off x="419100" y="1371600"/>
            <a:ext cx="83058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D772E-1231-C0D8-966E-1C808B5BE67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Covering the remaining </a:t>
            </a:r>
            <a:r>
              <a:rPr lang="en-US" dirty="0" err="1"/>
              <a:t>minterms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7A53835-FA80-A61B-BB19-5FBF90F091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304800" y="1524000"/>
            <a:ext cx="8534400" cy="48148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46ADD-F602-CA1D-AC7A-2DF1BD41484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2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E2CE2BC-E91F-4AC9-6210-9D31485249F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10"/>
          <a:stretch>
            <a:fillRect/>
          </a:stretch>
        </p:blipFill>
        <p:spPr bwMode="auto">
          <a:xfrm>
            <a:off x="784948" y="1447800"/>
            <a:ext cx="7574104" cy="2613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62" name="Picture 2">
            <a:extLst>
              <a:ext uri="{FF2B5EF4-FFF2-40B4-BE49-F238E27FC236}">
                <a16:creationId xmlns:a16="http://schemas.microsoft.com/office/drawing/2014/main" id="{7B5DDBB4-1154-25A0-7EC6-1F8CDC57CB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077"/>
          <a:stretch>
            <a:fillRect/>
          </a:stretch>
        </p:blipFill>
        <p:spPr bwMode="auto">
          <a:xfrm>
            <a:off x="990600" y="1828800"/>
            <a:ext cx="718947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D911624-7C47-2C36-3EE4-E72D34230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Unspecified outputs for certain inputs</a:t>
            </a:r>
          </a:p>
          <a:p>
            <a:pPr>
              <a:buFontTx/>
              <a:buChar char="-"/>
            </a:pPr>
            <a:r>
              <a:rPr lang="en-US" dirty="0"/>
              <a:t>Used in Map to provide further simplification</a:t>
            </a:r>
          </a:p>
          <a:p>
            <a:pPr>
              <a:buFontTx/>
              <a:buChar char="-"/>
            </a:pPr>
            <a:r>
              <a:rPr lang="en-US" dirty="0"/>
              <a:t>X is marked inside the square for don’t care input</a:t>
            </a:r>
          </a:p>
          <a:p>
            <a:pPr>
              <a:buFontTx/>
              <a:buChar char="-"/>
            </a:pPr>
            <a:r>
              <a:rPr lang="en-US" dirty="0"/>
              <a:t>Choose to include each don’t care </a:t>
            </a:r>
            <a:r>
              <a:rPr lang="en-US" dirty="0" err="1"/>
              <a:t>minterm</a:t>
            </a:r>
            <a:r>
              <a:rPr lang="en-US" dirty="0"/>
              <a:t> as either 1 or 0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2E8A7-72DA-2BAD-AAB0-9872DB913EA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Don’t Care Conditions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0F1EF-D80C-9302-3C74-3E5C6A155C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Don’t care conditions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3308EE3-DAF5-35E7-AD5C-793FAE58F89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23" b="22652"/>
          <a:stretch>
            <a:fillRect/>
          </a:stretch>
        </p:blipFill>
        <p:spPr bwMode="auto">
          <a:xfrm>
            <a:off x="120701" y="1600200"/>
            <a:ext cx="8902597" cy="3200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B2540C1-C6A3-4EA7-AC3F-BBAC9ABCD6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48"/>
          <a:stretch>
            <a:fillRect/>
          </a:stretch>
        </p:blipFill>
        <p:spPr bwMode="auto">
          <a:xfrm>
            <a:off x="120700" y="4800600"/>
            <a:ext cx="890259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DFE2-39CE-3D41-32A3-3CB2B7096B9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Don’t care simplifications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107DA7A-AA64-A281-63B6-D3480B10161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21"/>
          <a:stretch>
            <a:fillRect/>
          </a:stretch>
        </p:blipFill>
        <p:spPr bwMode="auto">
          <a:xfrm>
            <a:off x="304800" y="1600200"/>
            <a:ext cx="8686800" cy="4601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F6A61-CFCC-CF52-22C3-2B09B832A71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Example 3</a:t>
            </a:r>
            <a:endParaRPr lang="en-IN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7F0D683-4545-74D2-1FA3-E1D441999C3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334"/>
          <a:stretch>
            <a:fillRect/>
          </a:stretch>
        </p:blipFill>
        <p:spPr bwMode="auto">
          <a:xfrm>
            <a:off x="914400" y="1522032"/>
            <a:ext cx="7315200" cy="26696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3010" name="Picture 2">
            <a:extLst>
              <a:ext uri="{FF2B5EF4-FFF2-40B4-BE49-F238E27FC236}">
                <a16:creationId xmlns:a16="http://schemas.microsoft.com/office/drawing/2014/main" id="{B37EEB64-404D-6E92-8857-A496FB2CCB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111"/>
          <a:stretch>
            <a:fillRect/>
          </a:stretch>
        </p:blipFill>
        <p:spPr bwMode="auto">
          <a:xfrm>
            <a:off x="882648" y="1389610"/>
            <a:ext cx="7423152" cy="48587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D6645F-087A-7A9E-32F6-FA8161EA7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Combine valid adjacent squares containing 0’s</a:t>
            </a:r>
          </a:p>
          <a:p>
            <a:pPr>
              <a:buFontTx/>
              <a:buChar char="-"/>
            </a:pPr>
            <a:r>
              <a:rPr lang="en-US" dirty="0"/>
              <a:t>Obtain simplified expression of the complement in SOP form</a:t>
            </a:r>
          </a:p>
          <a:p>
            <a:pPr>
              <a:buFontTx/>
              <a:buChar char="-"/>
            </a:pPr>
            <a:r>
              <a:rPr lang="en-US" dirty="0"/>
              <a:t>Compliment further to get function in POS form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71B1D-F98B-B6A2-F653-1BAB46BF0449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IN" dirty="0"/>
              <a:t>POS Simplification</a:t>
            </a:r>
          </a:p>
        </p:txBody>
      </p:sp>
      <p:sp>
        <p:nvSpPr>
          <p:cNvPr id="64549" name="Text Box 37">
            <a:extLst>
              <a:ext uri="{FF2B5EF4-FFF2-40B4-BE49-F238E27FC236}">
                <a16:creationId xmlns:a16="http://schemas.microsoft.com/office/drawing/2014/main" id="{D82FA3C1-B6B0-37C2-0589-1981B0E3F6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3114675"/>
            <a:ext cx="4027488" cy="4667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dirty="0">
                <a:solidFill>
                  <a:schemeClr val="accent2"/>
                </a:solidFill>
              </a:rPr>
              <a:t>F(A,B,C,D) = </a:t>
            </a:r>
            <a:r>
              <a:rPr lang="en-US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(0,1,2,5,8,9,10)</a:t>
            </a:r>
            <a:endParaRPr lang="en-US" altLang="en-US" dirty="0">
              <a:solidFill>
                <a:schemeClr val="accent2"/>
              </a:solidFill>
            </a:endParaRPr>
          </a:p>
        </p:txBody>
      </p:sp>
      <p:sp>
        <p:nvSpPr>
          <p:cNvPr id="64554" name="Line 42">
            <a:extLst>
              <a:ext uri="{FF2B5EF4-FFF2-40B4-BE49-F238E27FC236}">
                <a16:creationId xmlns:a16="http://schemas.microsoft.com/office/drawing/2014/main" id="{6856B397-BB87-A674-9264-AB62217A08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971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4561" name="Line 49">
            <a:extLst>
              <a:ext uri="{FF2B5EF4-FFF2-40B4-BE49-F238E27FC236}">
                <a16:creationId xmlns:a16="http://schemas.microsoft.com/office/drawing/2014/main" id="{5D7335A0-3BE8-B579-333C-918EBEAD0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47244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graphicFrame>
        <p:nvGraphicFramePr>
          <p:cNvPr id="4" name="Group 2">
            <a:extLst>
              <a:ext uri="{FF2B5EF4-FFF2-40B4-BE49-F238E27FC236}">
                <a16:creationId xmlns:a16="http://schemas.microsoft.com/office/drawing/2014/main" id="{D28B22B1-23B4-D039-21E5-E48BAA5EC91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195098"/>
              </p:ext>
            </p:extLst>
          </p:nvPr>
        </p:nvGraphicFramePr>
        <p:xfrm>
          <a:off x="685800" y="3810000"/>
          <a:ext cx="4191000" cy="2667000"/>
        </p:xfrm>
        <a:graphic>
          <a:graphicData uri="http://schemas.openxmlformats.org/drawingml/2006/table">
            <a:tbl>
              <a:tblPr/>
              <a:tblGrid>
                <a:gridCol w="1047750">
                  <a:extLst>
                    <a:ext uri="{9D8B030D-6E8A-4147-A177-3AD203B41FA5}">
                      <a16:colId xmlns:a16="http://schemas.microsoft.com/office/drawing/2014/main" val="2443952118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1017932980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474028537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303502414"/>
                    </a:ext>
                  </a:extLst>
                </a:gridCol>
              </a:tblGrid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5565628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    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2153144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302949"/>
                  </a:ext>
                </a:extLst>
              </a:tr>
              <a:tr h="6667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 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</a:rPr>
                        <a:t>    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225946"/>
                  </a:ext>
                </a:extLst>
              </a:tr>
            </a:tbl>
          </a:graphicData>
        </a:graphic>
      </p:graphicFrame>
      <p:sp>
        <p:nvSpPr>
          <p:cNvPr id="57395" name="Line 51">
            <a:extLst>
              <a:ext uri="{FF2B5EF4-FFF2-40B4-BE49-F238E27FC236}">
                <a16:creationId xmlns:a16="http://schemas.microsoft.com/office/drawing/2014/main" id="{F80EF487-D42E-689B-CAF3-C31D814C740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048000" y="3962400"/>
            <a:ext cx="0" cy="22860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96" name="Line 52">
            <a:extLst>
              <a:ext uri="{FF2B5EF4-FFF2-40B4-BE49-F238E27FC236}">
                <a16:creationId xmlns:a16="http://schemas.microsoft.com/office/drawing/2014/main" id="{513D0815-645B-BD0F-C128-4CD5192D552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1400" y="3962400"/>
            <a:ext cx="0" cy="228600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98" name="Line 54">
            <a:extLst>
              <a:ext uri="{FF2B5EF4-FFF2-40B4-BE49-F238E27FC236}">
                <a16:creationId xmlns:a16="http://schemas.microsoft.com/office/drawing/2014/main" id="{B147B694-3FC0-0B13-6347-034671F0105E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6248400"/>
            <a:ext cx="533400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399" name="Line 55">
            <a:extLst>
              <a:ext uri="{FF2B5EF4-FFF2-40B4-BE49-F238E27FC236}">
                <a16:creationId xmlns:a16="http://schemas.microsoft.com/office/drawing/2014/main" id="{49B9E564-92BC-48DB-EDB0-65A1425380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3962400"/>
            <a:ext cx="533400" cy="0"/>
          </a:xfrm>
          <a:prstGeom prst="line">
            <a:avLst/>
          </a:prstGeom>
          <a:noFill/>
          <a:ln w="9525">
            <a:solidFill>
              <a:srgbClr val="FF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05" name="Line 61">
            <a:extLst>
              <a:ext uri="{FF2B5EF4-FFF2-40B4-BE49-F238E27FC236}">
                <a16:creationId xmlns:a16="http://schemas.microsoft.com/office/drawing/2014/main" id="{2FF70F55-431E-C381-AB24-F5EE3C8C534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05200" y="38862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08" name="Line 64">
            <a:extLst>
              <a:ext uri="{FF2B5EF4-FFF2-40B4-BE49-F238E27FC236}">
                <a16:creationId xmlns:a16="http://schemas.microsoft.com/office/drawing/2014/main" id="{F8BC8BBF-E884-5EA8-665F-6EED3705C741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638800"/>
            <a:ext cx="3657600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09" name="Line 65">
            <a:extLst>
              <a:ext uri="{FF2B5EF4-FFF2-40B4-BE49-F238E27FC236}">
                <a16:creationId xmlns:a16="http://schemas.microsoft.com/office/drawing/2014/main" id="{E27CA131-E40D-DD3A-0D5B-008B463A145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257800"/>
            <a:ext cx="3657600" cy="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0" name="Line 66">
            <a:extLst>
              <a:ext uri="{FF2B5EF4-FFF2-40B4-BE49-F238E27FC236}">
                <a16:creationId xmlns:a16="http://schemas.microsoft.com/office/drawing/2014/main" id="{0A5FB2FA-1CA0-DBA6-F759-862E2F4219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5257800"/>
            <a:ext cx="0" cy="38100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1" name="Line 67">
            <a:extLst>
              <a:ext uri="{FF2B5EF4-FFF2-40B4-BE49-F238E27FC236}">
                <a16:creationId xmlns:a16="http://schemas.microsoft.com/office/drawing/2014/main" id="{8B5A2DAA-0585-B5B7-0009-908013289F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90600" y="5257800"/>
            <a:ext cx="0" cy="381000"/>
          </a:xfrm>
          <a:prstGeom prst="line">
            <a:avLst/>
          </a:prstGeom>
          <a:noFill/>
          <a:ln w="9525">
            <a:solidFill>
              <a:srgbClr val="99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2" name="Line 68">
            <a:extLst>
              <a:ext uri="{FF2B5EF4-FFF2-40B4-BE49-F238E27FC236}">
                <a16:creationId xmlns:a16="http://schemas.microsoft.com/office/drawing/2014/main" id="{AF02E464-394D-D212-B9C5-02E22BDA1E76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572000"/>
            <a:ext cx="0" cy="114300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3" name="Line 69">
            <a:extLst>
              <a:ext uri="{FF2B5EF4-FFF2-40B4-BE49-F238E27FC236}">
                <a16:creationId xmlns:a16="http://schemas.microsoft.com/office/drawing/2014/main" id="{9B37CAE8-2519-C73C-D862-FB1E10FB19E0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4572000"/>
            <a:ext cx="685800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5" name="Line 71">
            <a:extLst>
              <a:ext uri="{FF2B5EF4-FFF2-40B4-BE49-F238E27FC236}">
                <a16:creationId xmlns:a16="http://schemas.microsoft.com/office/drawing/2014/main" id="{E1848A45-033A-F8CB-F896-6DA713BCF8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638800"/>
            <a:ext cx="0" cy="76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6" name="Line 72">
            <a:extLst>
              <a:ext uri="{FF2B5EF4-FFF2-40B4-BE49-F238E27FC236}">
                <a16:creationId xmlns:a16="http://schemas.microsoft.com/office/drawing/2014/main" id="{3762B553-A5F7-8CB4-81F1-1A4519DAF45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638800"/>
            <a:ext cx="0" cy="15240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19" name="Line 75">
            <a:extLst>
              <a:ext uri="{FF2B5EF4-FFF2-40B4-BE49-F238E27FC236}">
                <a16:creationId xmlns:a16="http://schemas.microsoft.com/office/drawing/2014/main" id="{F27CDCFF-B0EF-5CFD-3A56-A4A80318354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14800" y="5715000"/>
            <a:ext cx="838200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20" name="Line 76">
            <a:extLst>
              <a:ext uri="{FF2B5EF4-FFF2-40B4-BE49-F238E27FC236}">
                <a16:creationId xmlns:a16="http://schemas.microsoft.com/office/drawing/2014/main" id="{CFDEC532-9A53-8FD7-76EE-BEFE0AA9B8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4572000"/>
            <a:ext cx="0" cy="114300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21" name="Line 77">
            <a:extLst>
              <a:ext uri="{FF2B5EF4-FFF2-40B4-BE49-F238E27FC236}">
                <a16:creationId xmlns:a16="http://schemas.microsoft.com/office/drawing/2014/main" id="{00751E37-730F-DBCA-6419-94FA061BB5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4572000"/>
            <a:ext cx="609600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7422" name="Line 78">
            <a:extLst>
              <a:ext uri="{FF2B5EF4-FFF2-40B4-BE49-F238E27FC236}">
                <a16:creationId xmlns:a16="http://schemas.microsoft.com/office/drawing/2014/main" id="{D8364EB6-BB8E-44FC-5D36-E6272CBDB7D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38200" y="5715000"/>
            <a:ext cx="609600" cy="0"/>
          </a:xfrm>
          <a:prstGeom prst="line">
            <a:avLst/>
          </a:prstGeom>
          <a:noFill/>
          <a:ln w="9525">
            <a:solidFill>
              <a:srgbClr val="00CC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5C1A7F-16EA-601C-7584-E9008C443BB8}"/>
              </a:ext>
            </a:extLst>
          </p:cNvPr>
          <p:cNvSpPr txBox="1"/>
          <p:nvPr/>
        </p:nvSpPr>
        <p:spPr>
          <a:xfrm>
            <a:off x="5410200" y="3785716"/>
            <a:ext cx="3200400" cy="166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IN" dirty="0"/>
              <a:t>F’ = AB + CD + BD’</a:t>
            </a:r>
          </a:p>
          <a:p>
            <a:pPr>
              <a:lnSpc>
                <a:spcPct val="200000"/>
              </a:lnSpc>
            </a:pPr>
            <a:r>
              <a:rPr lang="en-IN" dirty="0"/>
              <a:t>By De Morgan’s:</a:t>
            </a:r>
          </a:p>
          <a:p>
            <a:pPr>
              <a:lnSpc>
                <a:spcPct val="200000"/>
              </a:lnSpc>
            </a:pPr>
            <a:r>
              <a:rPr lang="en-IN" dirty="0"/>
              <a:t>F = (A’+B’) (C’+D’)(B’+D)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49" grpId="0" animBg="1"/>
      <p:bldP spid="57395" grpId="0" animBg="1"/>
      <p:bldP spid="57396" grpId="0" animBg="1"/>
      <p:bldP spid="57398" grpId="0" animBg="1"/>
      <p:bldP spid="57399" grpId="0" animBg="1"/>
      <p:bldP spid="57405" grpId="0" animBg="1"/>
      <p:bldP spid="57408" grpId="0" animBg="1"/>
      <p:bldP spid="57409" grpId="0" animBg="1"/>
      <p:bldP spid="57410" grpId="0" animBg="1"/>
      <p:bldP spid="57411" grpId="0" animBg="1"/>
      <p:bldP spid="57412" grpId="0" animBg="1"/>
      <p:bldP spid="57413" grpId="0" animBg="1"/>
      <p:bldP spid="57415" grpId="0" animBg="1"/>
      <p:bldP spid="57416" grpId="0" animBg="1"/>
      <p:bldP spid="57419" grpId="0" animBg="1"/>
      <p:bldP spid="57420" grpId="0" animBg="1"/>
      <p:bldP spid="57421" grpId="0" animBg="1"/>
      <p:bldP spid="57422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5" name="Picture 3">
            <a:extLst>
              <a:ext uri="{FF2B5EF4-FFF2-40B4-BE49-F238E27FC236}">
                <a16:creationId xmlns:a16="http://schemas.microsoft.com/office/drawing/2014/main" id="{20946BA2-85C1-0DE4-97AD-EB8B919852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" y="6172200"/>
            <a:ext cx="1644650" cy="531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E9E80-4DCC-3683-7C4A-2D831F8540B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Five variable K-map</a:t>
            </a:r>
            <a:endParaRPr lang="en-IN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54516B6B-F13A-3289-C5C5-8AA350BBC94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01"/>
          <a:stretch>
            <a:fillRect/>
          </a:stretch>
        </p:blipFill>
        <p:spPr bwMode="auto">
          <a:xfrm>
            <a:off x="457200" y="1676400"/>
            <a:ext cx="8095878" cy="4068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7757</TotalTime>
  <Words>195</Words>
  <Application>Microsoft Office PowerPoint</Application>
  <PresentationFormat>On-screen Show (4:3)</PresentationFormat>
  <Paragraphs>47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Symbol</vt:lpstr>
      <vt:lpstr>Times New Roman</vt:lpstr>
      <vt:lpstr>Office Theme</vt:lpstr>
      <vt:lpstr>Digital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559</cp:revision>
  <dcterms:created xsi:type="dcterms:W3CDTF">2010-01-15T20:22:21Z</dcterms:created>
  <dcterms:modified xsi:type="dcterms:W3CDTF">2026-08-24T12:53:51Z</dcterms:modified>
</cp:coreProperties>
</file>