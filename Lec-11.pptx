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"/>
  </p:notesMasterIdLst>
  <p:sldIdLst>
    <p:sldId id="337" r:id="rId2"/>
    <p:sldId id="355" r:id="rId3"/>
    <p:sldId id="358" r:id="rId4"/>
    <p:sldId id="356" r:id="rId5"/>
    <p:sldId id="357" r:id="rId6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4" autoAdjust="0"/>
    <p:restoredTop sz="92730" autoAdjust="0"/>
  </p:normalViewPr>
  <p:slideViewPr>
    <p:cSldViewPr>
      <p:cViewPr varScale="1">
        <p:scale>
          <a:sx n="108" d="100"/>
          <a:sy n="108" d="100"/>
        </p:scale>
        <p:origin x="528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55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9BA1A87E-813F-AF0F-041D-CE232B7A18C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90A33BCA-FF2B-904A-6ACB-421B4697E71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fld id="{864C4CF4-219F-4C78-A5BA-B2F154A2CDD2}" type="datetimeFigureOut">
              <a:rPr lang="en-US"/>
              <a:pPr>
                <a:defRPr/>
              </a:pPr>
              <a:t>8/25/2026</a:t>
            </a:fld>
            <a:endParaRPr lang="en-US"/>
          </a:p>
        </p:txBody>
      </p:sp>
      <p:sp>
        <p:nvSpPr>
          <p:cNvPr id="19460" name="Rectangle 4">
            <a:extLst>
              <a:ext uri="{FF2B5EF4-FFF2-40B4-BE49-F238E27FC236}">
                <a16:creationId xmlns:a16="http://schemas.microsoft.com/office/drawing/2014/main" id="{E6881BB2-A257-BEB2-B237-5C60E2FE8C72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3" name="Rectangle 5">
            <a:extLst>
              <a:ext uri="{FF2B5EF4-FFF2-40B4-BE49-F238E27FC236}">
                <a16:creationId xmlns:a16="http://schemas.microsoft.com/office/drawing/2014/main" id="{84E1F9B0-0E05-EEE3-8B09-3292F5E58FD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48134" name="Rectangle 6">
            <a:extLst>
              <a:ext uri="{FF2B5EF4-FFF2-40B4-BE49-F238E27FC236}">
                <a16:creationId xmlns:a16="http://schemas.microsoft.com/office/drawing/2014/main" id="{FD94DB07-1FBF-48D8-BE9B-EAD1CA8560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8135" name="Rectangle 7">
            <a:extLst>
              <a:ext uri="{FF2B5EF4-FFF2-40B4-BE49-F238E27FC236}">
                <a16:creationId xmlns:a16="http://schemas.microsoft.com/office/drawing/2014/main" id="{B2D67A9F-79F1-685B-B7CE-85E68E027A3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082BB320-F13B-41AF-BB84-306DCE9224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Slide Image Placeholder 1">
            <a:extLst>
              <a:ext uri="{FF2B5EF4-FFF2-40B4-BE49-F238E27FC236}">
                <a16:creationId xmlns:a16="http://schemas.microsoft.com/office/drawing/2014/main" id="{44FFA8F6-8FBE-2312-B2D6-012FDBF058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Notes Placeholder 2">
            <a:extLst>
              <a:ext uri="{FF2B5EF4-FFF2-40B4-BE49-F238E27FC236}">
                <a16:creationId xmlns:a16="http://schemas.microsoft.com/office/drawing/2014/main" id="{60994F52-302D-250C-116C-52081CB94A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/>
          </a:p>
        </p:txBody>
      </p:sp>
      <p:sp>
        <p:nvSpPr>
          <p:cNvPr id="21508" name="Slide Number Placeholder 3">
            <a:extLst>
              <a:ext uri="{FF2B5EF4-FFF2-40B4-BE49-F238E27FC236}">
                <a16:creationId xmlns:a16="http://schemas.microsoft.com/office/drawing/2014/main" id="{B92E2681-B4AB-B23F-9CED-5892333F86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9A8604D-9FA4-4914-BD57-93266632D9AF}" type="slidenum">
              <a:rPr lang="en-US" altLang="en-US" smtClean="0">
                <a:latin typeface="Calibri" panose="020F0502020204030204" pitchFamily="34" charset="0"/>
              </a:rPr>
              <a:pPr/>
              <a:t>1</a:t>
            </a:fld>
            <a:endParaRPr lang="en-US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0210E9-01D5-7472-677A-3B0AA2AD0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CD2DDE-7A51-A1A8-5C34-99C6FAA2B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D8106-2EFE-B03C-0DCC-E1803F83D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F5451D-6138-4BA6-B687-6C9F908488A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01832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3E8660-BD03-9DBA-9F27-92B953591E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70716-1DFD-E96E-77AC-224DB37BB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0094D3-6482-D516-F215-AAD295B6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A887A73-1AE0-46F8-856A-18EA1CF30A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62307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E40EF-D719-C1DF-C21A-2CF2ACF954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154D67-7283-208E-229E-EF4878C71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7FBDCE-B7CC-6ED6-F37D-087059BBC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9D9D01-1391-45E0-A9C5-C04635A436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388032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A1B8B84-BA43-81F2-03D3-23F157EDD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C23C139-D613-6FE7-8352-A2E3C1C6D2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763CA6A-FAB2-9598-5FD6-5C5FFE4CC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877344-E1C7-49F4-9630-5A0F623202D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02357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AC99FE01-5AE9-7CCB-1DBD-1304A57A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3A2B8239-FCBD-23CF-FA37-CDC50DB0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E3DACE7-853A-4CB8-B825-278E151B17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ED20D7B-F2AF-465A-8627-050A33B6A2E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99797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70E68BBE-9DA8-9C9C-D822-7FC9D3829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3BD6A7CF-E35D-4F42-293C-8BAB3F135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D87C34F-2852-49F1-C32D-490DE974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FB3AC73-65EA-4970-A755-094E5C634C8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993879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25E5740-931D-F5B1-D23F-DCBD0C38C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48D1279-085F-FADC-9335-EE951FC2F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FCD80BA-8A05-EF30-056C-D3B895E354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5AE7E5-2F0D-40CB-89DC-60190FE7F76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259605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0265D46-A9C7-CD06-5134-985F83276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8A55F7D-AFEF-402F-45C6-533ED83EF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F7864CC-5912-595A-947D-86ED4368F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8715581-CD01-4CEC-BC8F-7353CE82685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0446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E467ABF-5DBD-0F44-6269-D1296B6693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1729259-95EB-ABB4-8CC1-6AAA526DCD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62D7086-DF65-36F8-E6B6-082068B3E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2052F0-E69A-488D-AA78-DE7ABB9591C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65026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49C7B9-97C1-73C5-069B-8304F71A59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44205D-B0EA-B535-1BCB-C052B27F31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8810C2-A27B-66A7-0574-10C225192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F29212A-F0D7-4AFF-A386-0ACFB0AAC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984123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99E6BE-7F7F-94ED-1232-D89436CBCA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733A2-CB01-A6CE-B5D3-DB2ECAFBB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721FBA-0C17-A4B8-E194-E3AAE05723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ED9BE82-4715-4ACA-919F-DBB11A70F4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557081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ustom Layout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FFBFFBE-14B2-F0AF-F4AC-4976B5EA7B3E}"/>
              </a:ext>
            </a:extLst>
          </p:cNvPr>
          <p:cNvSpPr/>
          <p:nvPr userDrawn="1"/>
        </p:nvSpPr>
        <p:spPr>
          <a:xfrm>
            <a:off x="0" y="3352800"/>
            <a:ext cx="86868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A176F73-2534-EA66-9BA3-389159441E1E}"/>
              </a:ext>
            </a:extLst>
          </p:cNvPr>
          <p:cNvSpPr/>
          <p:nvPr userDrawn="1"/>
        </p:nvSpPr>
        <p:spPr>
          <a:xfrm>
            <a:off x="2895600" y="6096000"/>
            <a:ext cx="28956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1143B4A-14C2-1094-BE58-15BD80B6D446}"/>
              </a:ext>
            </a:extLst>
          </p:cNvPr>
          <p:cNvSpPr/>
          <p:nvPr userDrawn="1"/>
        </p:nvSpPr>
        <p:spPr>
          <a:xfrm>
            <a:off x="0" y="6096000"/>
            <a:ext cx="28956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2D759AA-21D7-ABA4-D5D7-76848EAA814B}"/>
              </a:ext>
            </a:extLst>
          </p:cNvPr>
          <p:cNvSpPr/>
          <p:nvPr userDrawn="1"/>
        </p:nvSpPr>
        <p:spPr>
          <a:xfrm>
            <a:off x="5791200" y="6096000"/>
            <a:ext cx="28956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endParaRPr lang="en-US"/>
          </a:p>
        </p:txBody>
      </p:sp>
      <p:pic>
        <p:nvPicPr>
          <p:cNvPr id="8" name="Picture 10" descr="BITS_university_logo_whitevert.png">
            <a:extLst>
              <a:ext uri="{FF2B5EF4-FFF2-40B4-BE49-F238E27FC236}">
                <a16:creationId xmlns:a16="http://schemas.microsoft.com/office/drawing/2014/main" id="{4AC502B5-9275-C45A-F485-E98B733254D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>
            <a:fillRect/>
          </a:stretch>
        </p:blipFill>
        <p:spPr bwMode="auto">
          <a:xfrm>
            <a:off x="76200" y="3352800"/>
            <a:ext cx="2057400" cy="197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A90F2E-DD9A-35C4-D90C-49EB0FD21D5D}"/>
              </a:ext>
            </a:extLst>
          </p:cNvPr>
          <p:cNvSpPr txBox="1"/>
          <p:nvPr userDrawn="1"/>
        </p:nvSpPr>
        <p:spPr>
          <a:xfrm>
            <a:off x="-76200" y="5257800"/>
            <a:ext cx="2209800" cy="554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sz="2900" b="1" spc="-150" dirty="0">
                <a:solidFill>
                  <a:schemeClr val="bg1"/>
                </a:solidFill>
                <a:latin typeface="Arial"/>
                <a:cs typeface="Arial"/>
              </a:rPr>
              <a:t>BITS</a:t>
            </a:r>
            <a:r>
              <a:rPr lang="en-US" sz="2900" spc="-150" dirty="0">
                <a:solidFill>
                  <a:schemeClr val="bg1"/>
                </a:solidFill>
                <a:latin typeface="Arial"/>
                <a:cs typeface="Arial"/>
              </a:rPr>
              <a:t> Pilani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E235B97-BCD1-B200-8B0C-6E7F31A5DD6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52400" y="5667375"/>
            <a:ext cx="1905000" cy="27622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200">
                <a:solidFill>
                  <a:srgbClr val="FFFFFF"/>
                </a:solidFill>
                <a:cs typeface="Arial" charset="0"/>
              </a:rPr>
              <a:t>Pilani Campus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5410200"/>
            <a:ext cx="6019800" cy="533400"/>
          </a:xfrm>
        </p:spPr>
        <p:txBody>
          <a:bodyPr anchor="b">
            <a:noAutofit/>
          </a:bodyPr>
          <a:lstStyle>
            <a:lvl1pPr marL="0" indent="0" algn="r">
              <a:lnSpc>
                <a:spcPts val="1800"/>
              </a:lnSpc>
              <a:spcBef>
                <a:spcPts val="0"/>
              </a:spcBef>
              <a:buNone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4600" y="3810000"/>
            <a:ext cx="6019800" cy="1524000"/>
          </a:xfrm>
        </p:spPr>
        <p:txBody>
          <a:bodyPr>
            <a:noAutofit/>
          </a:bodyPr>
          <a:lstStyle>
            <a:lvl1pPr algn="l">
              <a:lnSpc>
                <a:spcPts val="4000"/>
              </a:lnSpc>
              <a:defRPr sz="440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73719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69DAF1-3678-81CF-68D0-2FFF8BF1C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14762E-50A2-3FD2-FDF4-C54B9B6A93B8}"/>
              </a:ext>
            </a:extLst>
          </p:cNvPr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2326C-C066-820B-DC72-5D515C273E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2A3138-AE69-F27D-2EAA-23D2B3BFFE4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858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772D5-DBDE-E801-75E8-5C65995AF7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069C2E-6178-3D9A-0D54-C4141204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553200" y="62484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89347512-759C-4E18-9ECE-7FCE1DFA935E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2290254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3F7038-E9FE-3435-A99B-628D46289EF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76600" y="6596063"/>
            <a:ext cx="5867400" cy="26193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algn="r" eaLnBrk="1" hangingPunct="1">
              <a:defRPr/>
            </a:pPr>
            <a:r>
              <a:rPr lang="en-US" sz="1100" b="1">
                <a:solidFill>
                  <a:srgbClr val="101141"/>
                </a:solidFill>
                <a:cs typeface="Arial" charset="0"/>
              </a:rPr>
              <a:t>BITS </a:t>
            </a:r>
            <a:r>
              <a:rPr lang="en-US" sz="1100">
                <a:solidFill>
                  <a:srgbClr val="101141"/>
                </a:solidFill>
                <a:cs typeface="Arial" charset="0"/>
              </a:rPr>
              <a:t>Pilani, Pilani Campus</a:t>
            </a:r>
          </a:p>
        </p:txBody>
      </p:sp>
      <p:grpSp>
        <p:nvGrpSpPr>
          <p:cNvPr id="4" name="Group 11">
            <a:extLst>
              <a:ext uri="{FF2B5EF4-FFF2-40B4-BE49-F238E27FC236}">
                <a16:creationId xmlns:a16="http://schemas.microsoft.com/office/drawing/2014/main" id="{C581210D-00F8-03F9-A285-0EF404A95B28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084388" y="6550025"/>
            <a:ext cx="7059612" cy="49213"/>
            <a:chOff x="2083888" y="6550671"/>
            <a:chExt cx="7060112" cy="48665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981720D-E387-AAA5-1040-9B41570959D0}"/>
                </a:ext>
              </a:extLst>
            </p:cNvPr>
            <p:cNvSpPr/>
            <p:nvPr/>
          </p:nvSpPr>
          <p:spPr>
            <a:xfrm>
              <a:off x="4630418" y="6550671"/>
              <a:ext cx="2329027" cy="48665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A61E86A8-1855-7B69-B62C-6E258FDAA754}"/>
                </a:ext>
              </a:extLst>
            </p:cNvPr>
            <p:cNvSpPr/>
            <p:nvPr/>
          </p:nvSpPr>
          <p:spPr>
            <a:xfrm>
              <a:off x="6908642" y="6550671"/>
              <a:ext cx="2235358" cy="45525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0F5A7EC-8365-09AA-A08B-63472C98828A}"/>
                </a:ext>
              </a:extLst>
            </p:cNvPr>
            <p:cNvSpPr/>
            <p:nvPr/>
          </p:nvSpPr>
          <p:spPr>
            <a:xfrm>
              <a:off x="2083888" y="6550671"/>
              <a:ext cx="2581458" cy="48665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pic>
        <p:nvPicPr>
          <p:cNvPr id="8" name="Picture 11" descr="Picture 7.png">
            <a:extLst>
              <a:ext uri="{FF2B5EF4-FFF2-40B4-BE49-F238E27FC236}">
                <a16:creationId xmlns:a16="http://schemas.microsoft.com/office/drawing/2014/main" id="{055BCDEA-2A80-3C2D-080C-509BDDC90CD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23" b="5336"/>
          <a:stretch>
            <a:fillRect/>
          </a:stretch>
        </p:blipFill>
        <p:spPr bwMode="auto">
          <a:xfrm>
            <a:off x="6629400" y="0"/>
            <a:ext cx="2193925" cy="692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9" name="Group 18">
            <a:extLst>
              <a:ext uri="{FF2B5EF4-FFF2-40B4-BE49-F238E27FC236}">
                <a16:creationId xmlns:a16="http://schemas.microsoft.com/office/drawing/2014/main" id="{4FE31975-C8A2-731C-B1AA-CCD2DCF57F50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2133600" y="6553200"/>
            <a:ext cx="7010400" cy="46038"/>
            <a:chOff x="1905000" y="6553200"/>
            <a:chExt cx="7010400" cy="45719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57A10F7-F50B-DAEB-B974-D1288E571504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AECCB2B-C7CF-4843-D0DF-2886453D18BC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7A3C326-F746-6ED4-B21E-4BB970D1C982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grpSp>
        <p:nvGrpSpPr>
          <p:cNvPr id="13" name="Group 22">
            <a:extLst>
              <a:ext uri="{FF2B5EF4-FFF2-40B4-BE49-F238E27FC236}">
                <a16:creationId xmlns:a16="http://schemas.microsoft.com/office/drawing/2014/main" id="{09821B34-ED59-A848-42D8-7954EFE8425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0" y="1295400"/>
            <a:ext cx="7010400" cy="46038"/>
            <a:chOff x="1905000" y="6553200"/>
            <a:chExt cx="7010400" cy="45719"/>
          </a:xfrm>
        </p:grpSpPr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DD3EB44-1837-0D6E-CE9B-DBC9F8518DD2}"/>
                </a:ext>
              </a:extLst>
            </p:cNvPr>
            <p:cNvSpPr/>
            <p:nvPr/>
          </p:nvSpPr>
          <p:spPr>
            <a:xfrm>
              <a:off x="4267200" y="6553200"/>
              <a:ext cx="2328863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4180C74-B502-6526-25D1-FD5B018B28F4}"/>
                </a:ext>
              </a:extLst>
            </p:cNvPr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1EECA1A-60B6-C307-32D5-77B6F2589D37}"/>
                </a:ext>
              </a:extLst>
            </p:cNvPr>
            <p:cNvSpPr/>
            <p:nvPr userDrawn="1"/>
          </p:nvSpPr>
          <p:spPr>
            <a:xfrm>
              <a:off x="6586538" y="6553200"/>
              <a:ext cx="2328862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prstClr val="white"/>
                </a:solidFill>
              </a:endParaRPr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93837"/>
            <a:ext cx="8229600" cy="4525963"/>
          </a:xfrm>
        </p:spPr>
        <p:txBody>
          <a:bodyPr/>
          <a:lstStyle>
            <a:lvl1pPr marL="34290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101141"/>
              </a:buClr>
              <a:buSzTx/>
              <a:buFont typeface="Arial" pitchFamily="34" charset="0"/>
              <a:buNone/>
              <a:tabLst/>
              <a:defRPr sz="2400">
                <a:latin typeface="+mn-lt"/>
                <a:cs typeface="Arial" pitchFamily="34" charset="0"/>
              </a:defRPr>
            </a:lvl1pPr>
            <a:lvl2pPr marL="742950" marR="0" indent="-28575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Char char="–"/>
              <a:tabLst/>
              <a:defRPr sz="1600">
                <a:latin typeface="+mn-lt"/>
                <a:cs typeface="Arial" pitchFamily="34" charset="0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US" dirty="0"/>
          </a:p>
        </p:txBody>
      </p:sp>
      <p:sp>
        <p:nvSpPr>
          <p:cNvPr id="27" name="Content Placeholder 18"/>
          <p:cNvSpPr>
            <a:spLocks noGrp="1"/>
          </p:cNvSpPr>
          <p:nvPr>
            <p:ph sz="quarter" idx="10"/>
          </p:nvPr>
        </p:nvSpPr>
        <p:spPr>
          <a:xfrm>
            <a:off x="304800" y="152400"/>
            <a:ext cx="6324600" cy="1143000"/>
          </a:xfrm>
        </p:spPr>
        <p:txBody>
          <a:bodyPr anchor="ctr">
            <a:normAutofit/>
          </a:bodyPr>
          <a:lstStyle>
            <a:lvl1pPr marL="0">
              <a:lnSpc>
                <a:spcPts val="3600"/>
              </a:lnSpc>
              <a:spcBef>
                <a:spcPts val="0"/>
              </a:spcBef>
              <a:buNone/>
              <a:defRPr sz="3600" b="1" spc="-15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2652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BA203AAE-04EA-FB40-EB07-8B5C207984B1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B0F4528A-9CB7-CDAF-ED2B-34ED9244113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C94811-E68F-A5B1-AEDA-C6AFA290A8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21/12/2020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210422-B7F7-81EF-261E-27508681B4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938BB7-5B9C-07D9-CEF5-0333C5055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pPr>
              <a:defRPr/>
            </a:pPr>
            <a:fld id="{5875A4CA-FE82-4068-9563-37A5A44B587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33" r:id="rId1"/>
    <p:sldLayoutId id="2147484834" r:id="rId2"/>
    <p:sldLayoutId id="2147484835" r:id="rId3"/>
    <p:sldLayoutId id="2147484836" r:id="rId4"/>
    <p:sldLayoutId id="2147484837" r:id="rId5"/>
    <p:sldLayoutId id="2147484838" r:id="rId6"/>
    <p:sldLayoutId id="2147484839" r:id="rId7"/>
    <p:sldLayoutId id="2147484840" r:id="rId8"/>
    <p:sldLayoutId id="2147484841" r:id="rId9"/>
    <p:sldLayoutId id="2147484842" r:id="rId10"/>
    <p:sldLayoutId id="2147484843" r:id="rId11"/>
    <p:sldLayoutId id="2147484844" r:id="rId12"/>
    <p:sldLayoutId id="2147484861" r:id="rId13"/>
    <p:sldLayoutId id="2147484862" r:id="rId14"/>
  </p:sldLayoutIdLst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itle 4">
            <a:extLst>
              <a:ext uri="{FF2B5EF4-FFF2-40B4-BE49-F238E27FC236}">
                <a16:creationId xmlns:a16="http://schemas.microsoft.com/office/drawing/2014/main" id="{82CCF8E8-8D44-B829-5D34-BCFE6E2C9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en-US" dirty="0"/>
              <a:t>BITS </a:t>
            </a:r>
            <a:r>
              <a:rPr lang="en-US" altLang="en-US" dirty="0" err="1"/>
              <a:t>Pilani</a:t>
            </a:r>
            <a:r>
              <a:rPr lang="en-US" altLang="en-US" dirty="0"/>
              <a:t> </a:t>
            </a:r>
            <a:br>
              <a:rPr lang="en-US" altLang="en-US" dirty="0"/>
            </a:br>
            <a:r>
              <a:rPr lang="en-US" altLang="en-US" dirty="0"/>
              <a:t>Digital Design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BD772D-9840-4762-E3C3-128057D3E943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Prof. GSS </a:t>
            </a:r>
            <a:r>
              <a:rPr lang="en-US" dirty="0" err="1"/>
              <a:t>Chalapathi</a:t>
            </a:r>
            <a:r>
              <a:rPr lang="en-US" dirty="0"/>
              <a:t>, Prof. Saurabh Gandhi (EEE department)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DB1AABD2-08BF-5B64-F0BE-E3E2DB9DE52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949" b="-1"/>
          <a:stretch>
            <a:fillRect/>
          </a:stretch>
        </p:blipFill>
        <p:spPr bwMode="auto">
          <a:xfrm>
            <a:off x="4199638" y="1461639"/>
            <a:ext cx="4669631" cy="2819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8FE6428-10E7-4EF5-FD5B-32C5A6FC93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4572000" cy="4525963"/>
          </a:xfrm>
        </p:spPr>
        <p:txBody>
          <a:bodyPr/>
          <a:lstStyle/>
          <a:p>
            <a:r>
              <a:rPr lang="en-US" sz="2000" dirty="0"/>
              <a:t>BCD to Excess 3 code converter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A circuit that converts a BCD codeword to the corresponding excess-3 codeword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/>
              <a:t>Exces-3 code: Given a decimal digit </a:t>
            </a:r>
            <a:r>
              <a:rPr lang="en-US" sz="2000" i="1" dirty="0"/>
              <a:t>n</a:t>
            </a:r>
            <a:r>
              <a:rPr lang="en-US" sz="2000" dirty="0"/>
              <a:t>, it is encoded in excess-3 as (n+3)</a:t>
            </a:r>
            <a:r>
              <a:rPr lang="en-US" sz="2000" baseline="-25000" dirty="0"/>
              <a:t>2</a:t>
            </a:r>
            <a:endParaRPr lang="en-US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400" dirty="0"/>
              <a:t>Example: n = 5: 1000; n = 0: 0011</a:t>
            </a:r>
            <a:endParaRPr lang="en-IN" sz="1400" baseline="-25000" dirty="0"/>
          </a:p>
          <a:p>
            <a:pPr>
              <a:buFont typeface="Arial" panose="020B0604020202020204" pitchFamily="34" charset="0"/>
              <a:buChar char="•"/>
            </a:pPr>
            <a:r>
              <a:rPr lang="en-IN" sz="2000" dirty="0"/>
              <a:t>How many input and output variables?</a:t>
            </a:r>
            <a:endParaRPr lang="en-US" sz="20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AAE27-9D37-5371-4429-A7BE2057848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Working with decimal numbers</a:t>
            </a:r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CD1DC84-F878-E93B-4B7D-6805439FABB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50000"/>
          <a:stretch>
            <a:fillRect/>
          </a:stretch>
        </p:blipFill>
        <p:spPr>
          <a:xfrm>
            <a:off x="457199" y="4343400"/>
            <a:ext cx="3995667" cy="187483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CC85BDA-65A4-7C77-C633-643B889E962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110" t="53629" r="-1110" b="-3629"/>
          <a:stretch>
            <a:fillRect/>
          </a:stretch>
        </p:blipFill>
        <p:spPr>
          <a:xfrm>
            <a:off x="4886442" y="4343400"/>
            <a:ext cx="3995667" cy="1874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5045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F4E8F-3C0E-A7C1-838C-25E89EB0404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BCD to Excess-3 converter</a:t>
            </a:r>
            <a:endParaRPr lang="en-IN" dirty="0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11A3D7A0-9C2A-B216-B572-304FA56D531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63" t="18636" r="11650"/>
          <a:stretch>
            <a:fillRect/>
          </a:stretch>
        </p:blipFill>
        <p:spPr bwMode="auto">
          <a:xfrm>
            <a:off x="2158111" y="1368713"/>
            <a:ext cx="4827778" cy="35335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6" name="Group 5">
            <a:extLst>
              <a:ext uri="{FF2B5EF4-FFF2-40B4-BE49-F238E27FC236}">
                <a16:creationId xmlns:a16="http://schemas.microsoft.com/office/drawing/2014/main" id="{DE978020-6D39-A562-AC21-0120704B1530}"/>
              </a:ext>
            </a:extLst>
          </p:cNvPr>
          <p:cNvGrpSpPr/>
          <p:nvPr/>
        </p:nvGrpSpPr>
        <p:grpSpPr>
          <a:xfrm>
            <a:off x="1600200" y="4902871"/>
            <a:ext cx="5757909" cy="1281336"/>
            <a:chOff x="457199" y="4343400"/>
            <a:chExt cx="8424910" cy="1874837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5CBA4C77-EF89-F3D8-E877-E24008E9409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b="50000"/>
            <a:stretch>
              <a:fillRect/>
            </a:stretch>
          </p:blipFill>
          <p:spPr>
            <a:xfrm>
              <a:off x="457199" y="4343400"/>
              <a:ext cx="3995667" cy="1874837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118A81E-6A9A-12FD-54EC-860BDCAEAE2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110" t="53629" r="-1110" b="-3629"/>
            <a:stretch>
              <a:fillRect/>
            </a:stretch>
          </p:blipFill>
          <p:spPr>
            <a:xfrm>
              <a:off x="4886442" y="4343400"/>
              <a:ext cx="3995667" cy="187483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26261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7796B38-603C-5704-8DCD-7829EECD3B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493837"/>
            <a:ext cx="3886200" cy="4525963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/>
              <a:t>Is binary sum less than or equal to 1001?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Yes: answer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sz="1600" dirty="0"/>
              <a:t>No: add 0110 to get the answer (and a carry)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50B8EF-AAA4-7989-54CE-51524ECDDB7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Decimal adders (adding BCD numbers)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62382A-824A-C174-F5A3-8B8198426F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3048000"/>
            <a:ext cx="5105400" cy="3420652"/>
          </a:xfrm>
          <a:prstGeom prst="rect">
            <a:avLst/>
          </a:prstGeom>
        </p:spPr>
      </p:pic>
      <p:pic>
        <p:nvPicPr>
          <p:cNvPr id="4" name="Content Placeholder 4">
            <a:extLst>
              <a:ext uri="{FF2B5EF4-FFF2-40B4-BE49-F238E27FC236}">
                <a16:creationId xmlns:a16="http://schemas.microsoft.com/office/drawing/2014/main" id="{99EBE82A-2FBA-DF9B-7DB3-C68FBC58D3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696"/>
          <a:stretch>
            <a:fillRect/>
          </a:stretch>
        </p:blipFill>
        <p:spPr bwMode="auto">
          <a:xfrm>
            <a:off x="5486400" y="1574770"/>
            <a:ext cx="3526027" cy="322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8BB911F-FAB6-D26E-9131-F1ABB002BC13}"/>
              </a:ext>
            </a:extLst>
          </p:cNvPr>
          <p:cNvSpPr/>
          <p:nvPr/>
        </p:nvSpPr>
        <p:spPr>
          <a:xfrm>
            <a:off x="5486400" y="1981200"/>
            <a:ext cx="2933330" cy="236220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7" name="Content Placeholder 4">
            <a:extLst>
              <a:ext uri="{FF2B5EF4-FFF2-40B4-BE49-F238E27FC236}">
                <a16:creationId xmlns:a16="http://schemas.microsoft.com/office/drawing/2014/main" id="{DD4D8D3B-0D18-C3D7-3EFD-9834B086758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7242" t="12840" r="17376" b="69814"/>
          <a:stretch>
            <a:fillRect/>
          </a:stretch>
        </p:blipFill>
        <p:spPr bwMode="auto">
          <a:xfrm>
            <a:off x="6799556" y="1997475"/>
            <a:ext cx="1600200" cy="593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0731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806F78-1F9B-5E0B-2622-002F0A53BA2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/>
              <a:t>BCD adder</a:t>
            </a:r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DE90DE-881E-CDEA-5F30-2A18295FCD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052986"/>
            <a:ext cx="4572000" cy="2237428"/>
          </a:xfrm>
          <a:prstGeom prst="rect">
            <a:avLst/>
          </a:prstGeom>
        </p:spPr>
      </p:pic>
      <p:pic>
        <p:nvPicPr>
          <p:cNvPr id="8" name="Content Placeholder 4">
            <a:extLst>
              <a:ext uri="{FF2B5EF4-FFF2-40B4-BE49-F238E27FC236}">
                <a16:creationId xmlns:a16="http://schemas.microsoft.com/office/drawing/2014/main" id="{849E197B-3CB8-1EDE-D5AE-AF1003022B7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696"/>
          <a:stretch>
            <a:fillRect/>
          </a:stretch>
        </p:blipFill>
        <p:spPr bwMode="auto">
          <a:xfrm>
            <a:off x="5486400" y="1574770"/>
            <a:ext cx="3526027" cy="32258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C9BB479-09B7-F3DB-3934-858419D9A7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8600" y="3048000"/>
            <a:ext cx="5105400" cy="3420652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A5622F5B-A199-BCFF-CDFA-48F2DE7B811F}"/>
              </a:ext>
            </a:extLst>
          </p:cNvPr>
          <p:cNvSpPr/>
          <p:nvPr/>
        </p:nvSpPr>
        <p:spPr>
          <a:xfrm>
            <a:off x="5486400" y="1981200"/>
            <a:ext cx="2933330" cy="2362200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9230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pptA48A.tmp</Template>
  <TotalTime>10931</TotalTime>
  <Words>119</Words>
  <Application>Microsoft Office PowerPoint</Application>
  <PresentationFormat>On-screen Show (4:3)</PresentationFormat>
  <Paragraphs>15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BITS Pilani  Digital Design</vt:lpstr>
      <vt:lpstr>PowerPoint Presentation</vt:lpstr>
      <vt:lpstr>PowerPoint Presentation</vt:lpstr>
      <vt:lpstr>PowerPoint Presentation</vt:lpstr>
      <vt:lpstr>PowerPoint Presentation</vt:lpstr>
    </vt:vector>
  </TitlesOfParts>
  <Company>bits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 Systems</dc:title>
  <dc:creator>a</dc:creator>
  <cp:lastModifiedBy>Saurabh Gandhi</cp:lastModifiedBy>
  <cp:revision>564</cp:revision>
  <dcterms:created xsi:type="dcterms:W3CDTF">2010-01-15T20:22:21Z</dcterms:created>
  <dcterms:modified xsi:type="dcterms:W3CDTF">2026-08-25T07:55:44Z</dcterms:modified>
</cp:coreProperties>
</file>