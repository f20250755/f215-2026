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9"/>
  </p:notesMasterIdLst>
  <p:sldIdLst>
    <p:sldId id="387" r:id="rId2"/>
    <p:sldId id="388" r:id="rId3"/>
    <p:sldId id="362" r:id="rId4"/>
    <p:sldId id="363" r:id="rId5"/>
    <p:sldId id="364" r:id="rId6"/>
    <p:sldId id="365" r:id="rId7"/>
    <p:sldId id="366" r:id="rId8"/>
    <p:sldId id="367" r:id="rId9"/>
    <p:sldId id="368" r:id="rId10"/>
    <p:sldId id="369" r:id="rId11"/>
    <p:sldId id="370" r:id="rId12"/>
    <p:sldId id="371" r:id="rId13"/>
    <p:sldId id="372" r:id="rId14"/>
    <p:sldId id="373" r:id="rId15"/>
    <p:sldId id="374" r:id="rId16"/>
    <p:sldId id="375" r:id="rId17"/>
    <p:sldId id="376" r:id="rId18"/>
    <p:sldId id="377" r:id="rId19"/>
    <p:sldId id="378" r:id="rId20"/>
    <p:sldId id="379" r:id="rId21"/>
    <p:sldId id="380" r:id="rId22"/>
    <p:sldId id="381" r:id="rId23"/>
    <p:sldId id="382" r:id="rId24"/>
    <p:sldId id="383" r:id="rId25"/>
    <p:sldId id="384" r:id="rId26"/>
    <p:sldId id="385" r:id="rId27"/>
    <p:sldId id="386" r:id="rId28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4" autoAdjust="0"/>
    <p:restoredTop sz="92730" autoAdjust="0"/>
  </p:normalViewPr>
  <p:slideViewPr>
    <p:cSldViewPr>
      <p:cViewPr varScale="1">
        <p:scale>
          <a:sx n="95" d="100"/>
          <a:sy n="95" d="100"/>
        </p:scale>
        <p:origin x="249" y="5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555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9BA1A87E-813F-AF0F-041D-CE232B7A18C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90A33BCA-FF2B-904A-6ACB-421B4697E719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864C4CF4-219F-4C78-A5BA-B2F154A2CDD2}" type="datetimeFigureOut">
              <a:rPr lang="en-US"/>
              <a:pPr>
                <a:defRPr/>
              </a:pPr>
              <a:t>8/31/2026</a:t>
            </a:fld>
            <a:endParaRPr lang="en-US"/>
          </a:p>
        </p:txBody>
      </p:sp>
      <p:sp>
        <p:nvSpPr>
          <p:cNvPr id="19460" name="Rectangle 4">
            <a:extLst>
              <a:ext uri="{FF2B5EF4-FFF2-40B4-BE49-F238E27FC236}">
                <a16:creationId xmlns:a16="http://schemas.microsoft.com/office/drawing/2014/main" id="{E6881BB2-A257-BEB2-B237-5C60E2FE8C72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3" name="Rectangle 5">
            <a:extLst>
              <a:ext uri="{FF2B5EF4-FFF2-40B4-BE49-F238E27FC236}">
                <a16:creationId xmlns:a16="http://schemas.microsoft.com/office/drawing/2014/main" id="{84E1F9B0-0E05-EEE3-8B09-3292F5E58FDD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8134" name="Rectangle 6">
            <a:extLst>
              <a:ext uri="{FF2B5EF4-FFF2-40B4-BE49-F238E27FC236}">
                <a16:creationId xmlns:a16="http://schemas.microsoft.com/office/drawing/2014/main" id="{FD94DB07-1FBF-48D8-BE9B-EAD1CA85602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8135" name="Rectangle 7">
            <a:extLst>
              <a:ext uri="{FF2B5EF4-FFF2-40B4-BE49-F238E27FC236}">
                <a16:creationId xmlns:a16="http://schemas.microsoft.com/office/drawing/2014/main" id="{B2D67A9F-79F1-685B-B7CE-85E68E027A3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082BB320-F13B-41AF-BB84-306DCE92248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Image Placeholder 1">
            <a:extLst>
              <a:ext uri="{FF2B5EF4-FFF2-40B4-BE49-F238E27FC236}">
                <a16:creationId xmlns:a16="http://schemas.microsoft.com/office/drawing/2014/main" id="{44FFA8F6-8FBE-2312-B2D6-012FDBF058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Notes Placeholder 2">
            <a:extLst>
              <a:ext uri="{FF2B5EF4-FFF2-40B4-BE49-F238E27FC236}">
                <a16:creationId xmlns:a16="http://schemas.microsoft.com/office/drawing/2014/main" id="{60994F52-302D-250C-116C-52081CB94A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21508" name="Slide Number Placeholder 3">
            <a:extLst>
              <a:ext uri="{FF2B5EF4-FFF2-40B4-BE49-F238E27FC236}">
                <a16:creationId xmlns:a16="http://schemas.microsoft.com/office/drawing/2014/main" id="{B92E2681-B4AB-B23F-9CED-5892333F86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9A8604D-9FA4-4914-BD57-93266632D9AF}" type="slidenum">
              <a:rPr lang="en-US" altLang="en-US" smtClean="0">
                <a:latin typeface="Calibri" panose="020F0502020204030204" pitchFamily="34" charset="0"/>
              </a:rPr>
              <a:pPr/>
              <a:t>1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0210E9-01D5-7472-677A-3B0AA2AD0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CD2DDE-7A51-A1A8-5C34-99C6FAA2B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FD8106-2EFE-B03C-0DCC-E1803F83D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F5451D-6138-4BA6-B687-6C9F908488A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018327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3E8660-BD03-9DBA-9F27-92B953591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170716-1DFD-E96E-77AC-224DB37BB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0094D3-6482-D516-F215-AAD295B6F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887A73-1AE0-46F8-856A-18EA1CF30A1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56230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E40EF-D719-C1DF-C21A-2CF2ACF95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154D67-7283-208E-229E-EF4878C71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7FBDCE-B7CC-6ED6-F37D-087059BBC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9D9D01-1391-45E0-A9C5-C04635A4365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388032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8A1B8B84-BA43-81F2-03D3-23F157EDD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C23C139-D613-6FE7-8352-A2E3C1C6D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763CA6A-FAB2-9598-5FD6-5C5FFE4CC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877344-E1C7-49F4-9630-5A0F623202D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20235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AC99FE01-5AE9-7CCB-1DBD-1304A57AD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3A2B8239-FCBD-23CF-FA37-CDC50DB05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E3DACE7-853A-4CB8-B825-278E151B1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D20D7B-F2AF-465A-8627-050A33B6A2E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99797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0E68BBE-9DA8-9C9C-D822-7FC9D3829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BD6A7CF-E35D-4F42-293C-8BAB3F135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D87C34F-2852-49F1-C32D-490DE9743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B3AC73-65EA-4970-A755-094E5C634C8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993879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D25E5740-931D-F5B1-D23F-DCBD0C38C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F48D1279-085F-FADC-9335-EE951FC2F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FCD80BA-8A05-EF30-056C-D3B895E35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5AE7E5-2F0D-40CB-89DC-60190FE7F76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5960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B0265D46-A9C7-CD06-5134-985F83276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8A55F7D-AFEF-402F-45C6-533ED83EF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F7864CC-5912-595A-947D-86ED4368F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715581-CD01-4CEC-BC8F-7353CE82685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204464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E467ABF-5DBD-0F44-6269-D1296B669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1729259-95EB-ABB4-8CC1-6AAA526DC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62D7086-DF65-36F8-E6B6-082068B3E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2052F0-E69A-488D-AA78-DE7ABB9591C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650266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49C7B9-97C1-73C5-069B-8304F71A5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44205D-B0EA-B535-1BCB-C052B27F3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8810C2-A27B-66A7-0574-10C225192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9212A-F0D7-4AFF-A386-0ACFB0AAC5E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984123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99E6BE-7F7F-94ED-1232-D89436CBC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9733A2-CB01-A6CE-B5D3-DB2ECAFBB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721FBA-0C17-A4B8-E194-E3AAE0572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D9BE82-4715-4ACA-919F-DBB11A70F4E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557081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9DAF1-3678-81CF-68D0-2FFF8BF1C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14762E-50A2-3FD2-FDF4-C54B9B6A93B8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A2326C-C066-820B-DC72-5D515C273E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2A3138-AE69-F27D-2EAA-23D2B3BFFE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F772D5-DBDE-E801-75E8-5C65995AF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069C2E-6178-3D9A-0D54-C41412046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89347512-759C-4E18-9ECE-7FCE1DFA935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229025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3F7038-E9FE-3435-A99B-628D46289EF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defRPr/>
            </a:pPr>
            <a:r>
              <a:rPr lang="en-US" sz="1100" b="1">
                <a:solidFill>
                  <a:srgbClr val="101141"/>
                </a:solidFill>
                <a:cs typeface="Arial" charset="0"/>
              </a:rPr>
              <a:t>BITS </a:t>
            </a:r>
            <a:r>
              <a:rPr lang="en-US" sz="1100">
                <a:solidFill>
                  <a:srgbClr val="101141"/>
                </a:solidFill>
                <a:cs typeface="Arial" charset="0"/>
              </a:rPr>
              <a:t>Pilani, Pilani Campus</a:t>
            </a:r>
          </a:p>
        </p:txBody>
      </p:sp>
      <p:grpSp>
        <p:nvGrpSpPr>
          <p:cNvPr id="4" name="Group 11">
            <a:extLst>
              <a:ext uri="{FF2B5EF4-FFF2-40B4-BE49-F238E27FC236}">
                <a16:creationId xmlns:a16="http://schemas.microsoft.com/office/drawing/2014/main" id="{C581210D-00F8-03F9-A285-0EF404A95B28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981720D-E387-AAA5-1040-9B41570959D0}"/>
                </a:ext>
              </a:extLst>
            </p:cNvPr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61E86A8-1855-7B69-B62C-6E258FDAA754}"/>
                </a:ext>
              </a:extLst>
            </p:cNvPr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0F5A7EC-8365-09AA-A08B-63472C98828A}"/>
                </a:ext>
              </a:extLst>
            </p:cNvPr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8" name="Picture 11" descr="Picture 7.png">
            <a:extLst>
              <a:ext uri="{FF2B5EF4-FFF2-40B4-BE49-F238E27FC236}">
                <a16:creationId xmlns:a16="http://schemas.microsoft.com/office/drawing/2014/main" id="{055BCDEA-2A80-3C2D-080C-509BDDC90CD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" name="Group 18">
            <a:extLst>
              <a:ext uri="{FF2B5EF4-FFF2-40B4-BE49-F238E27FC236}">
                <a16:creationId xmlns:a16="http://schemas.microsoft.com/office/drawing/2014/main" id="{4FE31975-C8A2-731C-B1AA-CCD2DCF57F50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57A10F7-F50B-DAEB-B974-D1288E571504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AECCB2B-C7CF-4843-D0DF-2886453D18BC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7A3C326-F746-6ED4-B21E-4BB970D1C982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>
            <a:extLst>
              <a:ext uri="{FF2B5EF4-FFF2-40B4-BE49-F238E27FC236}">
                <a16:creationId xmlns:a16="http://schemas.microsoft.com/office/drawing/2014/main" id="{09821B34-ED59-A848-42D8-7954EFE84254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DD3EB44-1837-0D6E-CE9B-DBC9F8518DD2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4180C74-B502-6526-25D1-FD5B018B28F4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61EECA1A-60B6-C307-32D5-77B6F2589D37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+mn-lt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+mn-lt"/>
                <a:cs typeface="Arial" pitchFamily="34" charset="0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265252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FFBFFBE-14B2-F0AF-F4AC-4976B5EA7B3E}"/>
              </a:ext>
            </a:extLst>
          </p:cNvPr>
          <p:cNvSpPr/>
          <p:nvPr userDrawn="1"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A176F73-2534-EA66-9BA3-389159441E1E}"/>
              </a:ext>
            </a:extLst>
          </p:cNvPr>
          <p:cNvSpPr/>
          <p:nvPr userDrawn="1"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143B4A-14C2-1094-BE58-15BD80B6D446}"/>
              </a:ext>
            </a:extLst>
          </p:cNvPr>
          <p:cNvSpPr/>
          <p:nvPr userDrawn="1"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2D759AA-21D7-ABA4-D5D7-76848EAA814B}"/>
              </a:ext>
            </a:extLst>
          </p:cNvPr>
          <p:cNvSpPr/>
          <p:nvPr userDrawn="1"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pic>
        <p:nvPicPr>
          <p:cNvPr id="8" name="Picture 10" descr="BITS_university_logo_whitevert.png">
            <a:extLst>
              <a:ext uri="{FF2B5EF4-FFF2-40B4-BE49-F238E27FC236}">
                <a16:creationId xmlns:a16="http://schemas.microsoft.com/office/drawing/2014/main" id="{4AC502B5-9275-C45A-F485-E98B733254D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8A90F2E-DD9A-35C4-D90C-49EB0FD21D5D}"/>
              </a:ext>
            </a:extLst>
          </p:cNvPr>
          <p:cNvSpPr txBox="1"/>
          <p:nvPr userDrawn="1"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sz="2900" b="1" spc="-150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235B97-BCD1-B200-8B0C-6E7F31A5DD6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sz="1200">
                <a:solidFill>
                  <a:srgbClr val="FFFFFF"/>
                </a:solidFill>
                <a:cs typeface="Arial" charset="0"/>
              </a:rPr>
              <a:t>Pilani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5410200"/>
            <a:ext cx="6019800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12967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BA203AAE-04EA-FB40-EB07-8B5C207984B1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B0F4528A-9CB7-CDAF-ED2B-34ED9244113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C94811-E68F-A5B1-AEDA-C6AFA290A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210422-B7F7-81EF-261E-27508681B4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938BB7-5B9C-07D9-CEF5-0333C50550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5875A4CA-FE82-4068-9563-37A5A44B587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833" r:id="rId1"/>
    <p:sldLayoutId id="2147484834" r:id="rId2"/>
    <p:sldLayoutId id="2147484835" r:id="rId3"/>
    <p:sldLayoutId id="2147484836" r:id="rId4"/>
    <p:sldLayoutId id="2147484837" r:id="rId5"/>
    <p:sldLayoutId id="2147484838" r:id="rId6"/>
    <p:sldLayoutId id="2147484839" r:id="rId7"/>
    <p:sldLayoutId id="2147484840" r:id="rId8"/>
    <p:sldLayoutId id="2147484841" r:id="rId9"/>
    <p:sldLayoutId id="2147484842" r:id="rId10"/>
    <p:sldLayoutId id="2147484843" r:id="rId11"/>
    <p:sldLayoutId id="2147484861" r:id="rId12"/>
    <p:sldLayoutId id="2147484862" r:id="rId13"/>
    <p:sldLayoutId id="2147484863" r:id="rId14"/>
  </p:sldLayoutIdLst>
  <p:hf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4">
            <a:extLst>
              <a:ext uri="{FF2B5EF4-FFF2-40B4-BE49-F238E27FC236}">
                <a16:creationId xmlns:a16="http://schemas.microsoft.com/office/drawing/2014/main" id="{82CCF8E8-8D44-B829-5D34-BCFE6E2C9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dirty="0"/>
              <a:t>Digital Design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4BD772D-9840-4762-E3C3-128057D3E94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Prof. GSS </a:t>
            </a:r>
            <a:r>
              <a:rPr lang="en-US" dirty="0" err="1"/>
              <a:t>Chalapathi</a:t>
            </a:r>
            <a:r>
              <a:rPr lang="en-US" dirty="0"/>
              <a:t>,</a:t>
            </a:r>
          </a:p>
          <a:p>
            <a:r>
              <a:rPr lang="en-US" dirty="0"/>
              <a:t>Prof. Saurabh Gandhi,</a:t>
            </a:r>
          </a:p>
          <a:p>
            <a:r>
              <a:rPr lang="en-US" dirty="0"/>
              <a:t>Prof. Ramesh </a:t>
            </a:r>
            <a:r>
              <a:rPr lang="en-US" dirty="0" err="1"/>
              <a:t>Sambangi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5075504-33A5-31E5-7A08-43C06957A0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906963"/>
          </a:xfrm>
        </p:spPr>
        <p:txBody>
          <a:bodyPr>
            <a:normAutofit lnSpcReduction="10000"/>
          </a:bodyPr>
          <a:lstStyle/>
          <a:p>
            <a:pPr marL="457200" indent="-457200">
              <a:buClr>
                <a:srgbClr val="C00000"/>
              </a:buClr>
              <a:buFont typeface="Arial" pitchFamily="34" charset="0"/>
              <a:buAutoNum type="arabicPeriod"/>
            </a:pPr>
            <a:r>
              <a:rPr lang="en-US" dirty="0">
                <a:solidFill>
                  <a:srgbClr val="C00000"/>
                </a:solidFill>
              </a:rPr>
              <a:t>A 3-to-8 decoder has how many inputs and outputs?</a:t>
            </a:r>
          </a:p>
          <a:p>
            <a:pPr marL="457200" indent="-457200">
              <a:buClr>
                <a:srgbClr val="C00000"/>
              </a:buClr>
              <a:buFont typeface="Arial" pitchFamily="34" charset="0"/>
              <a:buAutoNum type="arabicPeriod"/>
            </a:pPr>
            <a:endParaRPr lang="en-US" dirty="0">
              <a:solidFill>
                <a:srgbClr val="C00000"/>
              </a:solidFill>
            </a:endParaRPr>
          </a:p>
          <a:p>
            <a:pPr marL="457200" indent="-457200">
              <a:buClr>
                <a:srgbClr val="C00000"/>
              </a:buClr>
              <a:buFont typeface="Arial" pitchFamily="34" charset="0"/>
              <a:buAutoNum type="arabicPeriod"/>
            </a:pPr>
            <a:r>
              <a:rPr lang="en-US" dirty="0">
                <a:solidFill>
                  <a:srgbClr val="C00000"/>
                </a:solidFill>
              </a:rPr>
              <a:t>A decoder with 3 inputs (S2, S1, S0) will have ____ AND gates with ____ inputs each; and ____ OR gates with ____ inputs each.</a:t>
            </a:r>
          </a:p>
          <a:p>
            <a:pPr marL="457200" indent="-457200">
              <a:buClr>
                <a:srgbClr val="C00000"/>
              </a:buClr>
              <a:buFont typeface="Arial" pitchFamily="34" charset="0"/>
              <a:buAutoNum type="arabicPeriod"/>
            </a:pPr>
            <a:endParaRPr lang="en-US" dirty="0">
              <a:solidFill>
                <a:srgbClr val="C00000"/>
              </a:solidFill>
            </a:endParaRPr>
          </a:p>
          <a:p>
            <a:pPr marL="457200" indent="-457200">
              <a:buClr>
                <a:srgbClr val="C00000"/>
              </a:buClr>
              <a:buFont typeface="Arial" pitchFamily="34" charset="0"/>
              <a:buAutoNum type="arabicPeriod"/>
            </a:pPr>
            <a:r>
              <a:rPr lang="en-US" dirty="0">
                <a:solidFill>
                  <a:srgbClr val="C00000"/>
                </a:solidFill>
              </a:rPr>
              <a:t>You want to build a circuit with 4 inputs and 6 outputs.</a:t>
            </a:r>
            <a:br>
              <a:rPr lang="en-US" dirty="0">
                <a:solidFill>
                  <a:srgbClr val="C00000"/>
                </a:solidFill>
              </a:rPr>
            </a:br>
            <a:r>
              <a:rPr lang="en-US" dirty="0">
                <a:solidFill>
                  <a:srgbClr val="C00000"/>
                </a:solidFill>
              </a:rPr>
              <a:t>The minimal number of components you will need is:</a:t>
            </a:r>
            <a:br>
              <a:rPr lang="en-US" dirty="0">
                <a:solidFill>
                  <a:srgbClr val="C00000"/>
                </a:solidFill>
              </a:rPr>
            </a:br>
            <a:r>
              <a:rPr lang="en-US" dirty="0">
                <a:solidFill>
                  <a:srgbClr val="C00000"/>
                </a:solidFill>
              </a:rPr>
              <a:t>____ decoders (4-to-16); ____ AND gates; ____ OR gates</a:t>
            </a:r>
          </a:p>
          <a:p>
            <a:pPr marL="457200" indent="-457200">
              <a:buClr>
                <a:srgbClr val="C00000"/>
              </a:buClr>
              <a:buFont typeface="Arial" pitchFamily="34" charset="0"/>
              <a:buAutoNum type="arabicPeriod"/>
            </a:pPr>
            <a:endParaRPr lang="en-US" dirty="0">
              <a:solidFill>
                <a:srgbClr val="C00000"/>
              </a:solidFill>
            </a:endParaRPr>
          </a:p>
          <a:p>
            <a:pPr marL="457200" indent="-457200">
              <a:buClr>
                <a:srgbClr val="C00000"/>
              </a:buClr>
              <a:buFont typeface="Arial" pitchFamily="34" charset="0"/>
              <a:buAutoNum type="arabicPeriod"/>
            </a:pPr>
            <a:r>
              <a:rPr lang="en-US" dirty="0">
                <a:solidFill>
                  <a:srgbClr val="C00000"/>
                </a:solidFill>
              </a:rPr>
              <a:t>An active low decoder can be used to implement expressions in what form?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A70DDE-AB81-B906-98DD-D78CF4A6C1B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Review questions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77178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8D5842-3653-8DA8-3709-919AE4EDC17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Multiplexers – digital traffic lights</a:t>
            </a:r>
            <a:endParaRPr lang="en-IN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503C8F60-2262-3D7B-9F37-9054B7ABF09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186"/>
          <a:stretch>
            <a:fillRect/>
          </a:stretch>
        </p:blipFill>
        <p:spPr bwMode="auto">
          <a:xfrm>
            <a:off x="1288552" y="2057400"/>
            <a:ext cx="6566896" cy="365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528252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478D72-5DDF-D30F-013B-8E9D2933FAD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2–to–1 multiplexer</a:t>
            </a:r>
            <a:endParaRPr lang="en-IN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424893A2-BEA1-684E-04CC-6D9DB93DF45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986" b="43209"/>
          <a:stretch>
            <a:fillRect/>
          </a:stretch>
        </p:blipFill>
        <p:spPr bwMode="auto">
          <a:xfrm>
            <a:off x="652802" y="1752601"/>
            <a:ext cx="7838395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CCDD713C-1A54-E2FA-E8D3-DF6D534AD63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791" b="28608"/>
          <a:stretch>
            <a:fillRect/>
          </a:stretch>
        </p:blipFill>
        <p:spPr bwMode="auto">
          <a:xfrm>
            <a:off x="652801" y="3581401"/>
            <a:ext cx="7838395" cy="6095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881CB567-A142-D3E6-45CE-B581D6EF2A2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1393" b="1230"/>
          <a:stretch>
            <a:fillRect/>
          </a:stretch>
        </p:blipFill>
        <p:spPr bwMode="auto">
          <a:xfrm>
            <a:off x="652800" y="4190999"/>
            <a:ext cx="7838395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53769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371D91-99F8-B1EE-D93F-8FC541218EE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Building a multiplexer</a:t>
            </a:r>
            <a:endParaRPr lang="en-IN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FE3808AF-D28C-DEAC-F658-7D08BDB1C3B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790" b="35639"/>
          <a:stretch>
            <a:fillRect/>
          </a:stretch>
        </p:blipFill>
        <p:spPr bwMode="auto">
          <a:xfrm>
            <a:off x="533400" y="1676400"/>
            <a:ext cx="8077200" cy="25750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185C56C7-9AC6-ECF4-4F8C-734861662CA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361" b="1094"/>
          <a:stretch>
            <a:fillRect/>
          </a:stretch>
        </p:blipFill>
        <p:spPr bwMode="auto">
          <a:xfrm>
            <a:off x="533400" y="4251489"/>
            <a:ext cx="8077200" cy="16921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3422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F73345-9CA4-5B9D-7649-667393BF654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Building a multiplexer – the circuit</a:t>
            </a:r>
            <a:endParaRPr lang="en-IN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10C4B9EF-74B0-C0A0-8B3C-BF7A8B4A1B9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828"/>
          <a:stretch>
            <a:fillRect/>
          </a:stretch>
        </p:blipFill>
        <p:spPr bwMode="auto">
          <a:xfrm>
            <a:off x="578949" y="1752600"/>
            <a:ext cx="7986101" cy="3352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357894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1FBC40-FDFF-5115-ED7F-1BB81E81AF5D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Multiplexers with </a:t>
            </a:r>
            <a:r>
              <a:rPr lang="en-US" i="1" dirty="0"/>
              <a:t>Enable </a:t>
            </a:r>
            <a:r>
              <a:rPr lang="en-US" dirty="0"/>
              <a:t>input</a:t>
            </a:r>
            <a:endParaRPr lang="en-IN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015BBA4A-E909-BA8F-0DF8-C1D3DB73339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768"/>
          <a:stretch>
            <a:fillRect/>
          </a:stretch>
        </p:blipFill>
        <p:spPr bwMode="auto">
          <a:xfrm>
            <a:off x="723900" y="1676400"/>
            <a:ext cx="7696200" cy="4699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410162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AF4942-06B3-F479-08A5-88414A39885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Truth table abbreviations</a:t>
            </a:r>
            <a:endParaRPr lang="en-IN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7CE7A4D7-EA2E-3FD7-5F39-DEB848DD3FB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768"/>
          <a:stretch>
            <a:fillRect/>
          </a:stretch>
        </p:blipFill>
        <p:spPr bwMode="auto">
          <a:xfrm>
            <a:off x="914400" y="1676400"/>
            <a:ext cx="7315200" cy="45142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90663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3BCEB9-8461-8BB9-93E4-BAB36932B06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More abbreviations</a:t>
            </a:r>
            <a:endParaRPr lang="en-IN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09484A67-9BE7-5B48-58EB-73C90626CE3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84"/>
          <a:stretch>
            <a:fillRect/>
          </a:stretch>
        </p:blipFill>
        <p:spPr bwMode="auto">
          <a:xfrm>
            <a:off x="876300" y="1524000"/>
            <a:ext cx="7391400" cy="46806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375805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1E50BD-72C7-BD38-E807-6725E8FBA3E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4–to–1 mux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B0F86EB-A9EA-335B-D150-E9D9AAC05D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-"/>
            </a:pPr>
            <a:r>
              <a:rPr lang="en-US" dirty="0"/>
              <a:t>Block diagram and truth table</a:t>
            </a:r>
          </a:p>
          <a:p>
            <a:pPr>
              <a:buFontTx/>
              <a:buChar char="-"/>
            </a:pPr>
            <a:endParaRPr lang="en-IN" dirty="0"/>
          </a:p>
          <a:p>
            <a:pPr>
              <a:buFontTx/>
              <a:buChar char="-"/>
            </a:pPr>
            <a:endParaRPr lang="en-IN" dirty="0"/>
          </a:p>
          <a:p>
            <a:pPr>
              <a:buFontTx/>
              <a:buChar char="-"/>
            </a:pPr>
            <a:endParaRPr lang="en-IN" dirty="0"/>
          </a:p>
          <a:p>
            <a:pPr>
              <a:buFontTx/>
              <a:buChar char="-"/>
            </a:pPr>
            <a:endParaRPr lang="en-IN" dirty="0"/>
          </a:p>
          <a:p>
            <a:pPr>
              <a:buFontTx/>
              <a:buChar char="-"/>
            </a:pPr>
            <a:r>
              <a:rPr lang="en-IN" dirty="0"/>
              <a:t>What is that bubble at the input of </a:t>
            </a:r>
            <a:r>
              <a:rPr lang="en-IN" i="1" dirty="0"/>
              <a:t>EN</a:t>
            </a:r>
            <a:r>
              <a:rPr lang="en-IN" dirty="0"/>
              <a:t>?</a:t>
            </a:r>
          </a:p>
          <a:p>
            <a:pPr>
              <a:buFontTx/>
              <a:buChar char="-"/>
            </a:pPr>
            <a:r>
              <a:rPr lang="en-IN" dirty="0"/>
              <a:t>This is an active-low enable input multiplexer, i.e. when EN pin is made 0, output will select some input; when EN pin is 1, the multiplexer outputs 1 (</a:t>
            </a:r>
            <a:r>
              <a:rPr lang="en-IN" b="1" i="1" dirty="0"/>
              <a:t>independent of the input</a:t>
            </a:r>
            <a:r>
              <a:rPr lang="en-IN" dirty="0"/>
              <a:t>)</a:t>
            </a:r>
          </a:p>
          <a:p>
            <a:pPr>
              <a:buFontTx/>
              <a:buChar char="-"/>
            </a:pPr>
            <a:r>
              <a:rPr lang="en-IN" dirty="0"/>
              <a:t>Useful for hierarchical designs (we will see later)!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7074ECFD-0D52-3F37-2F62-A7D102136F8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00" t="55000" r="21818" b="10000"/>
          <a:stretch>
            <a:fillRect/>
          </a:stretch>
        </p:blipFill>
        <p:spPr bwMode="auto">
          <a:xfrm>
            <a:off x="2590800" y="2057400"/>
            <a:ext cx="3384223" cy="14805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FB62653C-A5F1-7045-FA81-AEBE904F834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2500"/>
          <a:stretch>
            <a:fillRect/>
          </a:stretch>
        </p:blipFill>
        <p:spPr bwMode="auto">
          <a:xfrm>
            <a:off x="381000" y="5797959"/>
            <a:ext cx="838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73946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AA2145-A242-D2DE-4109-BC9489CEDF4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4-to-1 mux implementation</a:t>
            </a:r>
            <a:endParaRPr lang="en-IN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3B241EB3-D527-6830-39EE-AFA68A2259D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96" t="20864" r="14587"/>
          <a:stretch>
            <a:fillRect/>
          </a:stretch>
        </p:blipFill>
        <p:spPr bwMode="auto">
          <a:xfrm>
            <a:off x="1752600" y="1600200"/>
            <a:ext cx="5638800" cy="4206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009998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221DC9-FB65-00F1-6B99-698B4867BFD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2</a:t>
            </a:r>
            <a:r>
              <a:rPr lang="en-US" baseline="30000" dirty="0"/>
              <a:t>n</a:t>
            </a:r>
            <a:r>
              <a:rPr lang="en-US" dirty="0"/>
              <a:t>-to-1 multiplexers</a:t>
            </a:r>
            <a:endParaRPr lang="en-IN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3C78FF14-3A49-771B-E905-2555C40B478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526"/>
          <a:stretch>
            <a:fillRect/>
          </a:stretch>
        </p:blipFill>
        <p:spPr bwMode="auto">
          <a:xfrm>
            <a:off x="1028290" y="1752600"/>
            <a:ext cx="7087419" cy="40375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350252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F588830-7E44-3835-81A4-BB95AC099E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754563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i="1" dirty="0"/>
              <a:t>n</a:t>
            </a:r>
            <a:r>
              <a:rPr lang="en-US" dirty="0"/>
              <a:t> variable functions use an </a:t>
            </a:r>
            <a:r>
              <a:rPr lang="en-US" i="1" dirty="0"/>
              <a:t>n</a:t>
            </a:r>
            <a:r>
              <a:rPr lang="en-US" dirty="0"/>
              <a:t>-input multiplexer (n-to-1)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i="1" dirty="0"/>
              <a:t>n</a:t>
            </a:r>
            <a:r>
              <a:rPr lang="en-US" dirty="0"/>
              <a:t> variables connect to the </a:t>
            </a:r>
            <a:r>
              <a:rPr lang="en-US" i="1" dirty="0"/>
              <a:t>select</a:t>
            </a:r>
            <a:r>
              <a:rPr lang="en-US" dirty="0"/>
              <a:t> input pins of the mux, thereby selecting on row of the truth table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i="1" dirty="0"/>
              <a:t>data</a:t>
            </a:r>
            <a:r>
              <a:rPr lang="en-US" dirty="0"/>
              <a:t> inputs are chosen intelligently to get the correct output</a:t>
            </a:r>
          </a:p>
          <a:p>
            <a:pPr>
              <a:buFont typeface="Arial" panose="020B0604020202020204" pitchFamily="34" charset="0"/>
              <a:buChar char="•"/>
            </a:pPr>
            <a:endParaRPr lang="en-US" i="1" dirty="0"/>
          </a:p>
          <a:p>
            <a:pPr>
              <a:buFont typeface="Arial" panose="020B0604020202020204" pitchFamily="34" charset="0"/>
              <a:buChar char="•"/>
            </a:pPr>
            <a:endParaRPr lang="en-US" i="1" dirty="0"/>
          </a:p>
          <a:p>
            <a:pPr>
              <a:buFont typeface="Arial" panose="020B0604020202020204" pitchFamily="34" charset="0"/>
              <a:buChar char="•"/>
            </a:pPr>
            <a:endParaRPr lang="en-US" i="1" dirty="0"/>
          </a:p>
          <a:p>
            <a:pPr>
              <a:buFont typeface="Arial" panose="020B0604020202020204" pitchFamily="34" charset="0"/>
              <a:buChar char="•"/>
            </a:pPr>
            <a:endParaRPr lang="en-US" i="1" dirty="0"/>
          </a:p>
          <a:p>
            <a:pPr>
              <a:buFont typeface="Arial" panose="020B0604020202020204" pitchFamily="34" charset="0"/>
              <a:buChar char="•"/>
            </a:pPr>
            <a:endParaRPr lang="en-US" i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For each </a:t>
            </a:r>
            <a:r>
              <a:rPr lang="en-US" dirty="0" err="1"/>
              <a:t>minterm</a:t>
            </a:r>
            <a:r>
              <a:rPr lang="en-US" dirty="0"/>
              <a:t> to be included in the SOP, we connect the corresponding data input of the mux to 1; rest to 0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8AA624-8724-4E09-E507-EBE3B399209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Implementing Boolean functions with muxes – addition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4E4784-BFCC-6DDB-0B96-9B2498FE1AB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23"/>
          <a:stretch>
            <a:fillRect/>
          </a:stretch>
        </p:blipFill>
        <p:spPr>
          <a:xfrm>
            <a:off x="1752600" y="3505200"/>
            <a:ext cx="1254532" cy="1733792"/>
          </a:xfrm>
          <a:prstGeom prst="rect">
            <a:avLst/>
          </a:prstGeom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F50B7478-FAE6-130D-92FD-4699E2A7560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549" t="52913" r="53425" b="1643"/>
          <a:stretch>
            <a:fillRect/>
          </a:stretch>
        </p:blipFill>
        <p:spPr bwMode="auto">
          <a:xfrm>
            <a:off x="1743958" y="3543299"/>
            <a:ext cx="1011942" cy="16827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8A5E288B-A887-4ACB-EBEF-F3BED317021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482" t="52564" r="20370" b="28345"/>
          <a:stretch>
            <a:fillRect/>
          </a:stretch>
        </p:blipFill>
        <p:spPr bwMode="auto">
          <a:xfrm>
            <a:off x="4888434" y="3443743"/>
            <a:ext cx="1254532" cy="7472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46E4ADD4-F8ED-3F5A-7DC1-7057BD64224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482" t="52565" r="20370" b="-1628"/>
          <a:stretch>
            <a:fillRect/>
          </a:stretch>
        </p:blipFill>
        <p:spPr bwMode="auto">
          <a:xfrm>
            <a:off x="4888434" y="3443743"/>
            <a:ext cx="1254532" cy="19204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59090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EA5272-410F-B9B6-20D6-DDC34A7E067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An adder with a smaller mux</a:t>
            </a:r>
            <a:endParaRPr lang="en-IN" dirty="0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FFF06051-3192-3E9F-6083-EABF82B34B8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778" t="12147" r="1853" b="29450"/>
          <a:stretch>
            <a:fillRect/>
          </a:stretch>
        </p:blipFill>
        <p:spPr bwMode="auto">
          <a:xfrm>
            <a:off x="6858000" y="1600200"/>
            <a:ext cx="1676400" cy="297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37F323BC-1496-668C-2D76-3426A232E4D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148" r="23148" b="77370"/>
          <a:stretch>
            <a:fillRect/>
          </a:stretch>
        </p:blipFill>
        <p:spPr bwMode="auto">
          <a:xfrm>
            <a:off x="502920" y="1752600"/>
            <a:ext cx="63246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2">
            <a:extLst>
              <a:ext uri="{FF2B5EF4-FFF2-40B4-BE49-F238E27FC236}">
                <a16:creationId xmlns:a16="http://schemas.microsoft.com/office/drawing/2014/main" id="{2430B13A-7D44-60B1-6CE9-6E631F8E483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072" r="23148" b="26455"/>
          <a:stretch>
            <a:fillRect/>
          </a:stretch>
        </p:blipFill>
        <p:spPr bwMode="auto">
          <a:xfrm>
            <a:off x="502920" y="4038600"/>
            <a:ext cx="63246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240E0A4C-738D-F695-7ECA-F1AE847C597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544" r="23148" b="998"/>
          <a:stretch>
            <a:fillRect/>
          </a:stretch>
        </p:blipFill>
        <p:spPr bwMode="auto">
          <a:xfrm>
            <a:off x="505968" y="4876800"/>
            <a:ext cx="63246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56691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C0E475-7720-1FA9-0939-00E58851114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An adder with a smaller mux</a:t>
            </a:r>
            <a:endParaRPr lang="en-IN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7E9F34C6-C562-1886-7F43-96D860C511B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696"/>
          <a:stretch>
            <a:fillRect/>
          </a:stretch>
        </p:blipFill>
        <p:spPr bwMode="auto">
          <a:xfrm>
            <a:off x="670273" y="1600200"/>
            <a:ext cx="7803454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106307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333610-DD79-0BFF-E49B-DC2D93D7A8F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Adder with smaller mux – implement the sum</a:t>
            </a:r>
            <a:endParaRPr lang="en-IN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34F296BD-EE1D-ABEC-E569-56A398C9A1E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00" t="19484" r="70000" b="26767"/>
          <a:stretch>
            <a:fillRect/>
          </a:stretch>
        </p:blipFill>
        <p:spPr bwMode="auto">
          <a:xfrm>
            <a:off x="1447800" y="2133599"/>
            <a:ext cx="1600200" cy="2819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5F7DF607-2787-B612-4010-7193B27F15C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00" t="19484" r="44000" b="26767"/>
          <a:stretch>
            <a:fillRect/>
          </a:stretch>
        </p:blipFill>
        <p:spPr bwMode="auto">
          <a:xfrm>
            <a:off x="1447800" y="2133599"/>
            <a:ext cx="3581400" cy="2819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A5741DC1-7013-85A9-C989-2D8531037F1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9" t="19484" r="9000" b="26767"/>
          <a:stretch>
            <a:fillRect/>
          </a:stretch>
        </p:blipFill>
        <p:spPr bwMode="auto">
          <a:xfrm>
            <a:off x="914400" y="2133599"/>
            <a:ext cx="6781800" cy="2819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6CADEBF8-BC65-773C-82DA-B778595E3A0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9" t="19485" r="9000" b="444"/>
          <a:stretch>
            <a:fillRect/>
          </a:stretch>
        </p:blipFill>
        <p:spPr bwMode="auto">
          <a:xfrm>
            <a:off x="914400" y="2124455"/>
            <a:ext cx="6781800" cy="42001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94010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B2C5912-7D30-9CA5-83E8-F05BDF0709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Dual 4-to-1 mux: Instead of selecting 1 out of 4 input bits, selects 1 2-bit input out of 4 2-bit inputs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E6433A-C14A-9AB3-6C94-811066546C5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Dual multiplexers</a:t>
            </a:r>
            <a:endParaRPr lang="en-IN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335A367A-A8D0-3256-5EF9-F1E43DCF5EF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455"/>
          <a:stretch>
            <a:fillRect/>
          </a:stretch>
        </p:blipFill>
        <p:spPr bwMode="auto">
          <a:xfrm>
            <a:off x="419100" y="2667000"/>
            <a:ext cx="8305800" cy="320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759174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8027D8-D951-DB77-69CF-F831D517EB7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Building dual multiplexers</a:t>
            </a:r>
            <a:endParaRPr lang="en-IN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65AC7C5C-597D-9D0F-AB20-24CB8B10EBF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162"/>
          <a:stretch>
            <a:fillRect/>
          </a:stretch>
        </p:blipFill>
        <p:spPr bwMode="auto">
          <a:xfrm>
            <a:off x="342900" y="1828800"/>
            <a:ext cx="8458200" cy="41670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300475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AFC190-ADCA-8E0A-A242-2A18A1E83F6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Adder with dual mux – combining sum and carry in a single device</a:t>
            </a:r>
            <a:endParaRPr lang="en-IN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0A815828-5D2A-7B0B-7012-1D0BFB7A663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963" r="39623" b="17558"/>
          <a:stretch>
            <a:fillRect/>
          </a:stretch>
        </p:blipFill>
        <p:spPr bwMode="auto">
          <a:xfrm>
            <a:off x="533400" y="2438400"/>
            <a:ext cx="4876800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2F4C4EBF-9183-3C48-CDD2-C5A7809056D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27963" r="1" b="17558"/>
          <a:stretch>
            <a:fillRect/>
          </a:stretch>
        </p:blipFill>
        <p:spPr bwMode="auto">
          <a:xfrm>
            <a:off x="533400" y="2438400"/>
            <a:ext cx="8077200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40462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1E605DF-C3F7-F9CB-2041-A9FF2C9858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Implement the Boolean function </a:t>
            </a:r>
            <a:r>
              <a:rPr lang="en-US" altLang="en-US" b="1" dirty="0"/>
              <a:t>F(A,B,C,D) = </a:t>
            </a:r>
            <a:r>
              <a:rPr lang="el-GR" altLang="en-US" b="1" dirty="0">
                <a:cs typeface="Times New Roman" panose="02020603050405020304" pitchFamily="18" charset="0"/>
              </a:rPr>
              <a:t>Σ</a:t>
            </a:r>
            <a:r>
              <a:rPr lang="en-US" altLang="en-US" b="1" dirty="0">
                <a:cs typeface="Times New Roman" panose="02020603050405020304" pitchFamily="18" charset="0"/>
              </a:rPr>
              <a:t> (0,1,3,4,8,9,15)</a:t>
            </a:r>
            <a:endParaRPr lang="el-GR" altLang="en-US" b="1" dirty="0"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E9EE2E-2FF2-044C-E7AD-7DFAE5BCA52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Example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490725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3278E75-9249-37B0-7BC2-CCCFD85336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Transmit information from a single line on to one of 2</a:t>
            </a:r>
            <a:r>
              <a:rPr lang="en-US" sz="2800" baseline="30000" dirty="0"/>
              <a:t>n</a:t>
            </a:r>
            <a:r>
              <a:rPr lang="en-US" dirty="0"/>
              <a:t> lines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Selection of output line determined by </a:t>
            </a:r>
            <a:r>
              <a:rPr lang="en-IN" i="1" dirty="0"/>
              <a:t>n</a:t>
            </a:r>
            <a:r>
              <a:rPr lang="en-IN" dirty="0"/>
              <a:t> select lines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 decoder with enable input can function as a </a:t>
            </a:r>
            <a:r>
              <a:rPr lang="en-IN" dirty="0" err="1"/>
              <a:t>demux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278632-BBE3-2EF9-5F60-F8AC5F0C8ED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De-multiplexers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796803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0EE090-7158-B090-12B3-77FF825ADE7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447800" y="2857500"/>
            <a:ext cx="6324600" cy="1143000"/>
          </a:xfrm>
        </p:spPr>
        <p:txBody>
          <a:bodyPr/>
          <a:lstStyle/>
          <a:p>
            <a:r>
              <a:rPr lang="en-US" dirty="0"/>
              <a:t>Finishing up combinational circuits!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085437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46CD5D-479C-3EA5-E948-3E87CDF5BFE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Multipliers</a:t>
            </a:r>
            <a:endParaRPr lang="en-IN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82D83C2B-38DC-8CF1-17B8-EA74D8D42DA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49"/>
          <a:stretch>
            <a:fillRect/>
          </a:stretch>
        </p:blipFill>
        <p:spPr bwMode="auto">
          <a:xfrm>
            <a:off x="851013" y="1828800"/>
            <a:ext cx="7441974" cy="3609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756905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4DDDEC-5333-78BF-22FC-33B9C96AF7E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Binary multiplication</a:t>
            </a:r>
            <a:endParaRPr lang="en-IN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BB3C517D-4E7C-36B0-D420-4C32B51144F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812"/>
          <a:stretch>
            <a:fillRect/>
          </a:stretch>
        </p:blipFill>
        <p:spPr bwMode="auto">
          <a:xfrm>
            <a:off x="723900" y="1752600"/>
            <a:ext cx="7696200" cy="4299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972470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22F287-CC26-9CB2-6966-47DD136BE7B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2 x 2 multiplication</a:t>
            </a:r>
            <a:endParaRPr lang="en-IN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2EA61BE4-A91D-0FDA-D991-7B9FCD72213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293"/>
          <a:stretch>
            <a:fillRect/>
          </a:stretch>
        </p:blipFill>
        <p:spPr bwMode="auto">
          <a:xfrm>
            <a:off x="880175" y="1676400"/>
            <a:ext cx="7383649" cy="434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4334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03C40B-4F61-B292-CD70-8CAD58EA9C0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2 x 2 multiplication</a:t>
            </a:r>
            <a:endParaRPr lang="en-IN" dirty="0"/>
          </a:p>
          <a:p>
            <a:endParaRPr lang="en-IN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A0021F1B-E129-1958-424C-B47EEB3C729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787"/>
          <a:stretch>
            <a:fillRect/>
          </a:stretch>
        </p:blipFill>
        <p:spPr bwMode="auto">
          <a:xfrm>
            <a:off x="530369" y="1828800"/>
            <a:ext cx="8083261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329532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EDCED2-A095-A594-DF07-308FBF1F683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4 x 4 multiplication</a:t>
            </a:r>
            <a:endParaRPr lang="en-IN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451F25BC-2F7B-70AC-2165-398F6D16F5F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768"/>
          <a:stretch>
            <a:fillRect/>
          </a:stretch>
        </p:blipFill>
        <p:spPr bwMode="auto">
          <a:xfrm>
            <a:off x="647700" y="1524000"/>
            <a:ext cx="7848600" cy="4768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661476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pptA48A.tmp</Template>
  <TotalTime>13833</TotalTime>
  <Words>423</Words>
  <Application>Microsoft Office PowerPoint</Application>
  <PresentationFormat>On-screen Show (4:3)</PresentationFormat>
  <Paragraphs>60</Paragraphs>
  <Slides>27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Arial</vt:lpstr>
      <vt:lpstr>Calibri</vt:lpstr>
      <vt:lpstr>Times New Roman</vt:lpstr>
      <vt:lpstr>Office Theme</vt:lpstr>
      <vt:lpstr>Digital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bits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 Time Systems</dc:title>
  <dc:creator>a</dc:creator>
  <cp:lastModifiedBy>Saurabh Gandhi</cp:lastModifiedBy>
  <cp:revision>565</cp:revision>
  <dcterms:created xsi:type="dcterms:W3CDTF">2010-01-15T20:22:21Z</dcterms:created>
  <dcterms:modified xsi:type="dcterms:W3CDTF">2026-09-01T07:07:51Z</dcterms:modified>
</cp:coreProperties>
</file>