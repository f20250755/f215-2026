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382" r:id="rId2"/>
    <p:sldId id="384" r:id="rId3"/>
    <p:sldId id="385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92" d="100"/>
          <a:sy n="92" d="100"/>
        </p:scale>
        <p:origin x="339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8/30/2026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47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61" r:id="rId12"/>
    <p:sldLayoutId id="2147484862" r:id="rId13"/>
    <p:sldLayoutId id="2147484863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75504-33A5-31E5-7A08-43C06957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Final expression after simplification with k-maps must include what terms?</a:t>
            </a: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While applying k-maps, don’t cares should be treated 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0DDE-AB81-B906-98DD-D78CF4A6C1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Review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1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C35E-A55F-EDBD-5D01-F5EAB7CC96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circuit to turn on the right LED</a:t>
            </a:r>
            <a:endParaRPr lang="en-IN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B7520CF-B6F5-19F3-0120-AB8C8781EDAB}"/>
              </a:ext>
            </a:extLst>
          </p:cNvPr>
          <p:cNvSpPr txBox="1"/>
          <p:nvPr/>
        </p:nvSpPr>
        <p:spPr>
          <a:xfrm>
            <a:off x="411480" y="1414239"/>
            <a:ext cx="7886700" cy="913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exactly </a:t>
            </a:r>
            <a:r>
              <a:rPr lang="en-US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8</a:t>
            </a: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LEDs, depending on a certain stored value.</a:t>
            </a:r>
          </a:p>
          <a:p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bits do we need to store the value of the LED to be turned on?</a:t>
            </a:r>
          </a:p>
          <a:p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output wires does the circuit need to turn on the correct LED?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36A5E75-01CA-15EC-F6BB-886E53C7F020}"/>
              </a:ext>
            </a:extLst>
          </p:cNvPr>
          <p:cNvGrpSpPr/>
          <p:nvPr/>
        </p:nvGrpSpPr>
        <p:grpSpPr>
          <a:xfrm>
            <a:off x="377190" y="3467100"/>
            <a:ext cx="1131570" cy="1625346"/>
            <a:chOff x="377190" y="3467100"/>
            <a:chExt cx="1131570" cy="1625346"/>
          </a:xfrm>
        </p:grpSpPr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F972F27D-B3C7-4785-D627-A9AA35B51991}"/>
                </a:ext>
              </a:extLst>
            </p:cNvPr>
            <p:cNvSpPr txBox="1"/>
            <p:nvPr/>
          </p:nvSpPr>
          <p:spPr>
            <a:xfrm>
              <a:off x="754380" y="3467100"/>
              <a:ext cx="37719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</a:t>
              </a:r>
              <a:endParaRPr lang="en-US" sz="1500" dirty="0"/>
            </a:p>
          </p:txBody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DCF5E3BC-8AB6-CC3E-D310-1298E361F40C}"/>
                </a:ext>
              </a:extLst>
            </p:cNvPr>
            <p:cNvSpPr txBox="1"/>
            <p:nvPr/>
          </p:nvSpPr>
          <p:spPr>
            <a:xfrm>
              <a:off x="754380" y="3981450"/>
              <a:ext cx="37719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</a:t>
              </a:r>
              <a:endParaRPr lang="en-US" sz="1500" dirty="0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848A4A84-78D8-69ED-6411-25C7E80B9CBF}"/>
                </a:ext>
              </a:extLst>
            </p:cNvPr>
            <p:cNvSpPr txBox="1"/>
            <p:nvPr/>
          </p:nvSpPr>
          <p:spPr>
            <a:xfrm>
              <a:off x="754380" y="4495800"/>
              <a:ext cx="37719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</a:t>
              </a:r>
              <a:endParaRPr lang="en-US" sz="1500" dirty="0"/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F63CCC9E-59C3-FD3B-D11D-C1DC4A8F3674}"/>
                </a:ext>
              </a:extLst>
            </p:cNvPr>
            <p:cNvSpPr txBox="1"/>
            <p:nvPr/>
          </p:nvSpPr>
          <p:spPr>
            <a:xfrm>
              <a:off x="377190" y="4886706"/>
              <a:ext cx="113157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FFB6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101₂ = 5</a:t>
              </a:r>
              <a:endParaRPr lang="en-US" sz="1400" dirty="0"/>
            </a:p>
          </p:txBody>
        </p:sp>
        <p:sp>
          <p:nvSpPr>
            <p:cNvPr id="9" name="Shape 4">
              <a:extLst>
                <a:ext uri="{FF2B5EF4-FFF2-40B4-BE49-F238E27FC236}">
                  <a16:creationId xmlns:a16="http://schemas.microsoft.com/office/drawing/2014/main" id="{C5740E20-D40C-0C86-4E13-8D0D5CDC05A6}"/>
                </a:ext>
              </a:extLst>
            </p:cNvPr>
            <p:cNvSpPr/>
            <p:nvPr/>
          </p:nvSpPr>
          <p:spPr>
            <a:xfrm>
              <a:off x="754380" y="3467100"/>
              <a:ext cx="377190" cy="342900"/>
            </a:xfrm>
            <a:prstGeom prst="roundRect">
              <a:avLst>
                <a:gd name="adj" fmla="val 16000"/>
              </a:avLst>
            </a:prstGeom>
            <a:solidFill>
              <a:srgbClr val="1B2436"/>
            </a:solidFill>
            <a:ln w="22225">
              <a:solidFill>
                <a:srgbClr val="FFB62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4446C856-51E2-4DF8-7281-34731B7175DE}"/>
                </a:ext>
              </a:extLst>
            </p:cNvPr>
            <p:cNvSpPr/>
            <p:nvPr/>
          </p:nvSpPr>
          <p:spPr>
            <a:xfrm>
              <a:off x="754380" y="3981450"/>
              <a:ext cx="377190" cy="342900"/>
            </a:xfrm>
            <a:prstGeom prst="roundRect">
              <a:avLst>
                <a:gd name="adj" fmla="val 16000"/>
              </a:avLst>
            </a:prstGeom>
            <a:solidFill>
              <a:srgbClr val="1B2436"/>
            </a:solidFill>
            <a:ln w="22225">
              <a:solidFill>
                <a:srgbClr val="FFB62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10">
              <a:extLst>
                <a:ext uri="{FF2B5EF4-FFF2-40B4-BE49-F238E27FC236}">
                  <a16:creationId xmlns:a16="http://schemas.microsoft.com/office/drawing/2014/main" id="{03F2EBC9-48B2-909A-80F4-4B98A444B2FA}"/>
                </a:ext>
              </a:extLst>
            </p:cNvPr>
            <p:cNvSpPr/>
            <p:nvPr/>
          </p:nvSpPr>
          <p:spPr>
            <a:xfrm>
              <a:off x="754380" y="4495800"/>
              <a:ext cx="377190" cy="342900"/>
            </a:xfrm>
            <a:prstGeom prst="roundRect">
              <a:avLst>
                <a:gd name="adj" fmla="val 16000"/>
              </a:avLst>
            </a:prstGeom>
            <a:solidFill>
              <a:srgbClr val="1B2436"/>
            </a:solidFill>
            <a:ln w="22225">
              <a:solidFill>
                <a:srgbClr val="FFB62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D14C9DC-ED0A-8F7B-15DA-E2B3E92637FE}"/>
              </a:ext>
            </a:extLst>
          </p:cNvPr>
          <p:cNvGrpSpPr/>
          <p:nvPr/>
        </p:nvGrpSpPr>
        <p:grpSpPr>
          <a:xfrm>
            <a:off x="1131570" y="2438400"/>
            <a:ext cx="5253228" cy="3429000"/>
            <a:chOff x="1131570" y="2438400"/>
            <a:chExt cx="5253228" cy="3429000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25D48976-6CF8-B6FB-DA2B-D026EB2CA60C}"/>
                </a:ext>
              </a:extLst>
            </p:cNvPr>
            <p:cNvSpPr/>
            <p:nvPr/>
          </p:nvSpPr>
          <p:spPr>
            <a:xfrm>
              <a:off x="1131570" y="3638550"/>
              <a:ext cx="2228850" cy="0"/>
            </a:xfrm>
            <a:prstGeom prst="line">
              <a:avLst/>
            </a:prstGeom>
            <a:noFill/>
            <a:ln w="28575">
              <a:solidFill>
                <a:srgbClr val="FFB62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E5C5687E-06DA-F64C-4C74-5F6303736AD3}"/>
                </a:ext>
              </a:extLst>
            </p:cNvPr>
            <p:cNvSpPr/>
            <p:nvPr/>
          </p:nvSpPr>
          <p:spPr>
            <a:xfrm>
              <a:off x="1131570" y="4152900"/>
              <a:ext cx="2228850" cy="0"/>
            </a:xfrm>
            <a:prstGeom prst="line">
              <a:avLst/>
            </a:prstGeom>
            <a:noFill/>
            <a:ln w="28575">
              <a:solidFill>
                <a:srgbClr val="FFB62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F6D957A8-E7F6-CC4A-CB5A-8AE7673C1F37}"/>
                </a:ext>
              </a:extLst>
            </p:cNvPr>
            <p:cNvSpPr/>
            <p:nvPr/>
          </p:nvSpPr>
          <p:spPr>
            <a:xfrm>
              <a:off x="1131570" y="4667250"/>
              <a:ext cx="2228850" cy="0"/>
            </a:xfrm>
            <a:prstGeom prst="line">
              <a:avLst/>
            </a:prstGeom>
            <a:noFill/>
            <a:ln w="28575">
              <a:solidFill>
                <a:srgbClr val="FFB62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Shape 14">
              <a:extLst>
                <a:ext uri="{FF2B5EF4-FFF2-40B4-BE49-F238E27FC236}">
                  <a16:creationId xmlns:a16="http://schemas.microsoft.com/office/drawing/2014/main" id="{52B9EF71-135D-F9D7-B106-196D4DBBDF58}"/>
                </a:ext>
              </a:extLst>
            </p:cNvPr>
            <p:cNvSpPr/>
            <p:nvPr/>
          </p:nvSpPr>
          <p:spPr>
            <a:xfrm>
              <a:off x="3360420" y="2438400"/>
              <a:ext cx="1440180" cy="3429000"/>
            </a:xfrm>
            <a:prstGeom prst="roundRect">
              <a:avLst>
                <a:gd name="adj" fmla="val 2857"/>
              </a:avLst>
            </a:prstGeom>
            <a:solidFill>
              <a:srgbClr val="1B2436"/>
            </a:solidFill>
            <a:ln w="19050">
              <a:solidFill>
                <a:srgbClr val="3A4A66"/>
              </a:solidFill>
              <a:prstDash val="solid"/>
            </a:ln>
            <a:effectLst>
              <a:outerShdw blurRad="127000" dist="38100" dir="54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 15">
              <a:extLst>
                <a:ext uri="{FF2B5EF4-FFF2-40B4-BE49-F238E27FC236}">
                  <a16:creationId xmlns:a16="http://schemas.microsoft.com/office/drawing/2014/main" id="{65769FFB-BED5-1147-972E-4374807D6527}"/>
                </a:ext>
              </a:extLst>
            </p:cNvPr>
            <p:cNvSpPr txBox="1"/>
            <p:nvPr/>
          </p:nvSpPr>
          <p:spPr>
            <a:xfrm>
              <a:off x="3360420" y="3775710"/>
              <a:ext cx="1440180" cy="754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75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3-to-8</a:t>
              </a:r>
              <a:endParaRPr lang="en-US" sz="1275" dirty="0"/>
            </a:p>
            <a:p>
              <a:pPr algn="ctr"/>
              <a:r>
                <a:rPr lang="en-US" sz="1275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DECODER</a:t>
              </a:r>
              <a:endParaRPr lang="en-US" sz="1275" dirty="0"/>
            </a:p>
          </p:txBody>
        </p:sp>
        <p:sp>
          <p:nvSpPr>
            <p:cNvPr id="33" name="Shape 16">
              <a:extLst>
                <a:ext uri="{FF2B5EF4-FFF2-40B4-BE49-F238E27FC236}">
                  <a16:creationId xmlns:a16="http://schemas.microsoft.com/office/drawing/2014/main" id="{ED29CF4C-CDE1-3F28-9723-85064A7185B8}"/>
                </a:ext>
              </a:extLst>
            </p:cNvPr>
            <p:cNvSpPr/>
            <p:nvPr/>
          </p:nvSpPr>
          <p:spPr>
            <a:xfrm>
              <a:off x="4800600" y="2657250"/>
              <a:ext cx="1584198" cy="0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04070802-BBEB-CA1D-1500-AEDFE7C56DA7}"/>
                </a:ext>
              </a:extLst>
            </p:cNvPr>
            <p:cNvSpPr/>
            <p:nvPr/>
          </p:nvSpPr>
          <p:spPr>
            <a:xfrm>
              <a:off x="4800600" y="3081338"/>
              <a:ext cx="1584198" cy="0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Shape 22">
              <a:extLst>
                <a:ext uri="{FF2B5EF4-FFF2-40B4-BE49-F238E27FC236}">
                  <a16:creationId xmlns:a16="http://schemas.microsoft.com/office/drawing/2014/main" id="{7C296C3A-E30A-4687-4CC6-66C4EF2B6040}"/>
                </a:ext>
              </a:extLst>
            </p:cNvPr>
            <p:cNvSpPr/>
            <p:nvPr/>
          </p:nvSpPr>
          <p:spPr>
            <a:xfrm>
              <a:off x="4800600" y="3509963"/>
              <a:ext cx="1584198" cy="0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Shape 25">
              <a:extLst>
                <a:ext uri="{FF2B5EF4-FFF2-40B4-BE49-F238E27FC236}">
                  <a16:creationId xmlns:a16="http://schemas.microsoft.com/office/drawing/2014/main" id="{C1331FC6-7949-3411-49B6-3DADD57692BD}"/>
                </a:ext>
              </a:extLst>
            </p:cNvPr>
            <p:cNvSpPr/>
            <p:nvPr/>
          </p:nvSpPr>
          <p:spPr>
            <a:xfrm>
              <a:off x="4800600" y="3938588"/>
              <a:ext cx="1584198" cy="0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Shape 28">
              <a:extLst>
                <a:ext uri="{FF2B5EF4-FFF2-40B4-BE49-F238E27FC236}">
                  <a16:creationId xmlns:a16="http://schemas.microsoft.com/office/drawing/2014/main" id="{67FE001B-2DB0-9A09-A31E-952C086707CC}"/>
                </a:ext>
              </a:extLst>
            </p:cNvPr>
            <p:cNvSpPr/>
            <p:nvPr/>
          </p:nvSpPr>
          <p:spPr>
            <a:xfrm>
              <a:off x="4800600" y="4367213"/>
              <a:ext cx="1584198" cy="0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Shape 31">
              <a:extLst>
                <a:ext uri="{FF2B5EF4-FFF2-40B4-BE49-F238E27FC236}">
                  <a16:creationId xmlns:a16="http://schemas.microsoft.com/office/drawing/2014/main" id="{475D7712-D279-BF96-C804-A2CE5D7D373E}"/>
                </a:ext>
              </a:extLst>
            </p:cNvPr>
            <p:cNvSpPr/>
            <p:nvPr/>
          </p:nvSpPr>
          <p:spPr>
            <a:xfrm>
              <a:off x="4800600" y="4795838"/>
              <a:ext cx="1584198" cy="0"/>
            </a:xfrm>
            <a:prstGeom prst="line">
              <a:avLst/>
            </a:prstGeom>
            <a:noFill/>
            <a:ln w="28575">
              <a:solidFill>
                <a:srgbClr val="FFB62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Shape 36">
              <a:extLst>
                <a:ext uri="{FF2B5EF4-FFF2-40B4-BE49-F238E27FC236}">
                  <a16:creationId xmlns:a16="http://schemas.microsoft.com/office/drawing/2014/main" id="{0EAAB0D4-30D6-90D6-538F-4FDBECD0CD68}"/>
                </a:ext>
              </a:extLst>
            </p:cNvPr>
            <p:cNvSpPr/>
            <p:nvPr/>
          </p:nvSpPr>
          <p:spPr>
            <a:xfrm>
              <a:off x="4800600" y="5224463"/>
              <a:ext cx="1584198" cy="0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Shape 39">
              <a:extLst>
                <a:ext uri="{FF2B5EF4-FFF2-40B4-BE49-F238E27FC236}">
                  <a16:creationId xmlns:a16="http://schemas.microsoft.com/office/drawing/2014/main" id="{C212F6C4-AF28-2351-CE61-9AA36069569D}"/>
                </a:ext>
              </a:extLst>
            </p:cNvPr>
            <p:cNvSpPr/>
            <p:nvPr/>
          </p:nvSpPr>
          <p:spPr>
            <a:xfrm>
              <a:off x="4800600" y="5653088"/>
              <a:ext cx="1584198" cy="0"/>
            </a:xfrm>
            <a:prstGeom prst="line">
              <a:avLst/>
            </a:prstGeom>
            <a:noFill/>
            <a:ln w="15875">
              <a:solidFill>
                <a:srgbClr val="5B647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39D3D7B-5E0F-CEDA-E745-518335722246}"/>
              </a:ext>
            </a:extLst>
          </p:cNvPr>
          <p:cNvGrpSpPr/>
          <p:nvPr/>
        </p:nvGrpSpPr>
        <p:grpSpPr>
          <a:xfrm>
            <a:off x="6203747" y="2492658"/>
            <a:ext cx="2704795" cy="3325022"/>
            <a:chOff x="6203747" y="2492658"/>
            <a:chExt cx="2704795" cy="3325022"/>
          </a:xfrm>
        </p:grpSpPr>
        <p:sp>
          <p:nvSpPr>
            <p:cNvPr id="65" name="Shape 32">
              <a:extLst>
                <a:ext uri="{FF2B5EF4-FFF2-40B4-BE49-F238E27FC236}">
                  <a16:creationId xmlns:a16="http://schemas.microsoft.com/office/drawing/2014/main" id="{3E51C769-23B9-44B3-FB2B-D07E89BBC061}"/>
                </a:ext>
              </a:extLst>
            </p:cNvPr>
            <p:cNvSpPr/>
            <p:nvPr/>
          </p:nvSpPr>
          <p:spPr>
            <a:xfrm>
              <a:off x="6203747" y="4450195"/>
              <a:ext cx="691286" cy="691286"/>
            </a:xfrm>
            <a:prstGeom prst="ellipse">
              <a:avLst/>
            </a:prstGeom>
            <a:solidFill>
              <a:srgbClr val="FFB627">
                <a:alpha val="22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Text 35">
              <a:extLst>
                <a:ext uri="{FF2B5EF4-FFF2-40B4-BE49-F238E27FC236}">
                  <a16:creationId xmlns:a16="http://schemas.microsoft.com/office/drawing/2014/main" id="{4BF4B67D-4245-30D4-8B06-FB086F79B74B}"/>
                </a:ext>
              </a:extLst>
            </p:cNvPr>
            <p:cNvSpPr txBox="1"/>
            <p:nvPr/>
          </p:nvSpPr>
          <p:spPr>
            <a:xfrm>
              <a:off x="7296912" y="4686110"/>
              <a:ext cx="161163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 dirty="0">
                  <a:solidFill>
                    <a:srgbClr val="FFB6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◀ only this one is ON</a:t>
              </a:r>
              <a:endParaRPr lang="en-US" sz="938" dirty="0"/>
            </a:p>
          </p:txBody>
        </p:sp>
        <p:sp>
          <p:nvSpPr>
            <p:cNvPr id="35" name="Shape 17">
              <a:extLst>
                <a:ext uri="{FF2B5EF4-FFF2-40B4-BE49-F238E27FC236}">
                  <a16:creationId xmlns:a16="http://schemas.microsoft.com/office/drawing/2014/main" id="{DBF3CC04-9AE2-2C90-72B5-ECB22D2044D1}"/>
                </a:ext>
              </a:extLst>
            </p:cNvPr>
            <p:cNvSpPr/>
            <p:nvPr/>
          </p:nvSpPr>
          <p:spPr>
            <a:xfrm>
              <a:off x="6384798" y="2492658"/>
              <a:ext cx="329184" cy="329184"/>
            </a:xfrm>
            <a:prstGeom prst="ellipse">
              <a:avLst/>
            </a:prstGeom>
            <a:solidFill>
              <a:srgbClr val="232837"/>
            </a:solidFill>
            <a:ln w="15875">
              <a:solidFill>
                <a:srgbClr val="454C5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 18">
              <a:extLst>
                <a:ext uri="{FF2B5EF4-FFF2-40B4-BE49-F238E27FC236}">
                  <a16:creationId xmlns:a16="http://schemas.microsoft.com/office/drawing/2014/main" id="{558EEDE2-4F0B-5864-70E2-B70C5C04AEAC}"/>
                </a:ext>
              </a:extLst>
            </p:cNvPr>
            <p:cNvSpPr txBox="1"/>
            <p:nvPr/>
          </p:nvSpPr>
          <p:spPr>
            <a:xfrm>
              <a:off x="6796278" y="2547522"/>
              <a:ext cx="6172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dirty="0">
                  <a:solidFill>
                    <a:srgbClr val="AEB6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LED0</a:t>
              </a:r>
              <a:endParaRPr lang="en-US" sz="938" dirty="0"/>
            </a:p>
          </p:txBody>
        </p:sp>
        <p:sp>
          <p:nvSpPr>
            <p:cNvPr id="41" name="Shape 20">
              <a:extLst>
                <a:ext uri="{FF2B5EF4-FFF2-40B4-BE49-F238E27FC236}">
                  <a16:creationId xmlns:a16="http://schemas.microsoft.com/office/drawing/2014/main" id="{FA155CF3-BAB7-58D6-D7FE-05A0718EA5D9}"/>
                </a:ext>
              </a:extLst>
            </p:cNvPr>
            <p:cNvSpPr/>
            <p:nvPr/>
          </p:nvSpPr>
          <p:spPr>
            <a:xfrm>
              <a:off x="6384798" y="2916746"/>
              <a:ext cx="329184" cy="329184"/>
            </a:xfrm>
            <a:prstGeom prst="ellipse">
              <a:avLst/>
            </a:prstGeom>
            <a:solidFill>
              <a:srgbClr val="232837"/>
            </a:solidFill>
            <a:ln w="15875">
              <a:solidFill>
                <a:srgbClr val="454C5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75D76274-96BC-FD88-9530-97465CAA004D}"/>
                </a:ext>
              </a:extLst>
            </p:cNvPr>
            <p:cNvSpPr txBox="1"/>
            <p:nvPr/>
          </p:nvSpPr>
          <p:spPr>
            <a:xfrm>
              <a:off x="6796278" y="2971610"/>
              <a:ext cx="6172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dirty="0">
                  <a:solidFill>
                    <a:srgbClr val="AEB6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LED1</a:t>
              </a:r>
              <a:endParaRPr lang="en-US" sz="938" dirty="0"/>
            </a:p>
          </p:txBody>
        </p:sp>
        <p:sp>
          <p:nvSpPr>
            <p:cNvPr id="47" name="Shape 23">
              <a:extLst>
                <a:ext uri="{FF2B5EF4-FFF2-40B4-BE49-F238E27FC236}">
                  <a16:creationId xmlns:a16="http://schemas.microsoft.com/office/drawing/2014/main" id="{895AD921-B531-287F-C9DA-D8F958E03E16}"/>
                </a:ext>
              </a:extLst>
            </p:cNvPr>
            <p:cNvSpPr/>
            <p:nvPr/>
          </p:nvSpPr>
          <p:spPr>
            <a:xfrm>
              <a:off x="6384798" y="3345371"/>
              <a:ext cx="329184" cy="329184"/>
            </a:xfrm>
            <a:prstGeom prst="ellipse">
              <a:avLst/>
            </a:prstGeom>
            <a:solidFill>
              <a:srgbClr val="232837"/>
            </a:solidFill>
            <a:ln w="15875">
              <a:solidFill>
                <a:srgbClr val="454C5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 24">
              <a:extLst>
                <a:ext uri="{FF2B5EF4-FFF2-40B4-BE49-F238E27FC236}">
                  <a16:creationId xmlns:a16="http://schemas.microsoft.com/office/drawing/2014/main" id="{E87F7960-E4B5-148A-CFE9-40B938BB027B}"/>
                </a:ext>
              </a:extLst>
            </p:cNvPr>
            <p:cNvSpPr txBox="1"/>
            <p:nvPr/>
          </p:nvSpPr>
          <p:spPr>
            <a:xfrm>
              <a:off x="6796278" y="3400235"/>
              <a:ext cx="6172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dirty="0">
                  <a:solidFill>
                    <a:srgbClr val="AEB6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LED2</a:t>
              </a:r>
              <a:endParaRPr lang="en-US" sz="938" dirty="0"/>
            </a:p>
          </p:txBody>
        </p:sp>
        <p:sp>
          <p:nvSpPr>
            <p:cNvPr id="53" name="Shape 26">
              <a:extLst>
                <a:ext uri="{FF2B5EF4-FFF2-40B4-BE49-F238E27FC236}">
                  <a16:creationId xmlns:a16="http://schemas.microsoft.com/office/drawing/2014/main" id="{97155B48-2D16-910F-BB63-6A932CDB30A2}"/>
                </a:ext>
              </a:extLst>
            </p:cNvPr>
            <p:cNvSpPr/>
            <p:nvPr/>
          </p:nvSpPr>
          <p:spPr>
            <a:xfrm>
              <a:off x="6384798" y="3773996"/>
              <a:ext cx="329184" cy="329184"/>
            </a:xfrm>
            <a:prstGeom prst="ellipse">
              <a:avLst/>
            </a:prstGeom>
            <a:solidFill>
              <a:srgbClr val="232837"/>
            </a:solidFill>
            <a:ln w="15875">
              <a:solidFill>
                <a:srgbClr val="454C5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 27">
              <a:extLst>
                <a:ext uri="{FF2B5EF4-FFF2-40B4-BE49-F238E27FC236}">
                  <a16:creationId xmlns:a16="http://schemas.microsoft.com/office/drawing/2014/main" id="{3EEBF30F-BCC6-B430-8228-1E8E9DA0CCE8}"/>
                </a:ext>
              </a:extLst>
            </p:cNvPr>
            <p:cNvSpPr txBox="1"/>
            <p:nvPr/>
          </p:nvSpPr>
          <p:spPr>
            <a:xfrm>
              <a:off x="6796278" y="3828860"/>
              <a:ext cx="6172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dirty="0">
                  <a:solidFill>
                    <a:srgbClr val="AEB6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LED3</a:t>
              </a:r>
              <a:endParaRPr lang="en-US" sz="938" dirty="0"/>
            </a:p>
          </p:txBody>
        </p:sp>
        <p:sp>
          <p:nvSpPr>
            <p:cNvPr id="59" name="Shape 29">
              <a:extLst>
                <a:ext uri="{FF2B5EF4-FFF2-40B4-BE49-F238E27FC236}">
                  <a16:creationId xmlns:a16="http://schemas.microsoft.com/office/drawing/2014/main" id="{A106D199-CB6B-C540-1901-292D5F10B8B0}"/>
                </a:ext>
              </a:extLst>
            </p:cNvPr>
            <p:cNvSpPr/>
            <p:nvPr/>
          </p:nvSpPr>
          <p:spPr>
            <a:xfrm>
              <a:off x="6384798" y="4202621"/>
              <a:ext cx="329184" cy="329184"/>
            </a:xfrm>
            <a:prstGeom prst="ellipse">
              <a:avLst/>
            </a:prstGeom>
            <a:solidFill>
              <a:srgbClr val="232837"/>
            </a:solidFill>
            <a:ln w="15875">
              <a:solidFill>
                <a:srgbClr val="454C5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 30">
              <a:extLst>
                <a:ext uri="{FF2B5EF4-FFF2-40B4-BE49-F238E27FC236}">
                  <a16:creationId xmlns:a16="http://schemas.microsoft.com/office/drawing/2014/main" id="{1752BC7F-801B-6E33-026E-E82A78534FBD}"/>
                </a:ext>
              </a:extLst>
            </p:cNvPr>
            <p:cNvSpPr txBox="1"/>
            <p:nvPr/>
          </p:nvSpPr>
          <p:spPr>
            <a:xfrm>
              <a:off x="6796278" y="4257485"/>
              <a:ext cx="6172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dirty="0">
                  <a:solidFill>
                    <a:srgbClr val="AEB6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LED4</a:t>
              </a:r>
              <a:endParaRPr lang="en-US" sz="938" dirty="0"/>
            </a:p>
          </p:txBody>
        </p:sp>
        <p:sp>
          <p:nvSpPr>
            <p:cNvPr id="67" name="Shape 33">
              <a:extLst>
                <a:ext uri="{FF2B5EF4-FFF2-40B4-BE49-F238E27FC236}">
                  <a16:creationId xmlns:a16="http://schemas.microsoft.com/office/drawing/2014/main" id="{91C94813-D239-BE01-002D-484F516B8A78}"/>
                </a:ext>
              </a:extLst>
            </p:cNvPr>
            <p:cNvSpPr/>
            <p:nvPr/>
          </p:nvSpPr>
          <p:spPr>
            <a:xfrm>
              <a:off x="6384798" y="4631246"/>
              <a:ext cx="329184" cy="329184"/>
            </a:xfrm>
            <a:prstGeom prst="ellipse">
              <a:avLst/>
            </a:prstGeom>
            <a:solidFill>
              <a:srgbClr val="FFB627"/>
            </a:solidFill>
            <a:ln w="19050">
              <a:solidFill>
                <a:srgbClr val="FFB62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Text 34">
              <a:extLst>
                <a:ext uri="{FF2B5EF4-FFF2-40B4-BE49-F238E27FC236}">
                  <a16:creationId xmlns:a16="http://schemas.microsoft.com/office/drawing/2014/main" id="{C0EA194C-E760-C66D-267B-1589C84BDF7F}"/>
                </a:ext>
              </a:extLst>
            </p:cNvPr>
            <p:cNvSpPr txBox="1"/>
            <p:nvPr/>
          </p:nvSpPr>
          <p:spPr>
            <a:xfrm>
              <a:off x="6796278" y="4686110"/>
              <a:ext cx="6172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 dirty="0">
                  <a:solidFill>
                    <a:srgbClr val="FF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LED5</a:t>
              </a:r>
              <a:endParaRPr lang="en-US" sz="938" dirty="0">
                <a:solidFill>
                  <a:srgbClr val="FF0000"/>
                </a:solidFill>
              </a:endParaRPr>
            </a:p>
          </p:txBody>
        </p:sp>
        <p:sp>
          <p:nvSpPr>
            <p:cNvPr id="75" name="Shape 37">
              <a:extLst>
                <a:ext uri="{FF2B5EF4-FFF2-40B4-BE49-F238E27FC236}">
                  <a16:creationId xmlns:a16="http://schemas.microsoft.com/office/drawing/2014/main" id="{7FA9B608-6AD9-1AE3-8D92-7EFA85E7D4E3}"/>
                </a:ext>
              </a:extLst>
            </p:cNvPr>
            <p:cNvSpPr/>
            <p:nvPr/>
          </p:nvSpPr>
          <p:spPr>
            <a:xfrm>
              <a:off x="6384798" y="5059871"/>
              <a:ext cx="329184" cy="329184"/>
            </a:xfrm>
            <a:prstGeom prst="ellipse">
              <a:avLst/>
            </a:prstGeom>
            <a:solidFill>
              <a:srgbClr val="232837"/>
            </a:solidFill>
            <a:ln w="15875">
              <a:solidFill>
                <a:srgbClr val="454C5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Text 38">
              <a:extLst>
                <a:ext uri="{FF2B5EF4-FFF2-40B4-BE49-F238E27FC236}">
                  <a16:creationId xmlns:a16="http://schemas.microsoft.com/office/drawing/2014/main" id="{AF2DAD6E-741A-2A1D-A714-C7A4A76F7736}"/>
                </a:ext>
              </a:extLst>
            </p:cNvPr>
            <p:cNvSpPr txBox="1"/>
            <p:nvPr/>
          </p:nvSpPr>
          <p:spPr>
            <a:xfrm>
              <a:off x="6796278" y="5114735"/>
              <a:ext cx="6172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dirty="0">
                  <a:solidFill>
                    <a:srgbClr val="AEB6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LED6</a:t>
              </a:r>
              <a:endParaRPr lang="en-US" sz="938" dirty="0"/>
            </a:p>
          </p:txBody>
        </p:sp>
        <p:sp>
          <p:nvSpPr>
            <p:cNvPr id="81" name="Shape 40">
              <a:extLst>
                <a:ext uri="{FF2B5EF4-FFF2-40B4-BE49-F238E27FC236}">
                  <a16:creationId xmlns:a16="http://schemas.microsoft.com/office/drawing/2014/main" id="{D1070356-2611-877F-EE90-432D8EFDD5D0}"/>
                </a:ext>
              </a:extLst>
            </p:cNvPr>
            <p:cNvSpPr/>
            <p:nvPr/>
          </p:nvSpPr>
          <p:spPr>
            <a:xfrm>
              <a:off x="6384798" y="5488496"/>
              <a:ext cx="329184" cy="329184"/>
            </a:xfrm>
            <a:prstGeom prst="ellipse">
              <a:avLst/>
            </a:prstGeom>
            <a:solidFill>
              <a:srgbClr val="232837"/>
            </a:solidFill>
            <a:ln w="15875">
              <a:solidFill>
                <a:srgbClr val="454C5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Text 41">
              <a:extLst>
                <a:ext uri="{FF2B5EF4-FFF2-40B4-BE49-F238E27FC236}">
                  <a16:creationId xmlns:a16="http://schemas.microsoft.com/office/drawing/2014/main" id="{9584B822-E88C-CC80-3B5C-3828ABB66178}"/>
                </a:ext>
              </a:extLst>
            </p:cNvPr>
            <p:cNvSpPr txBox="1"/>
            <p:nvPr/>
          </p:nvSpPr>
          <p:spPr>
            <a:xfrm>
              <a:off x="6796278" y="5543360"/>
              <a:ext cx="6172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dirty="0">
                  <a:solidFill>
                    <a:srgbClr val="AEB6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LED7</a:t>
              </a:r>
              <a:endParaRPr lang="en-US" sz="938" dirty="0"/>
            </a:p>
          </p:txBody>
        </p:sp>
      </p:grpSp>
      <p:sp>
        <p:nvSpPr>
          <p:cNvPr id="85" name="Text 42">
            <a:extLst>
              <a:ext uri="{FF2B5EF4-FFF2-40B4-BE49-F238E27FC236}">
                <a16:creationId xmlns:a16="http://schemas.microsoft.com/office/drawing/2014/main" id="{70E33217-E4AC-DAF0-4F6A-80C13F0DC5F0}"/>
              </a:ext>
            </a:extLst>
          </p:cNvPr>
          <p:cNvSpPr txBox="1"/>
          <p:nvPr/>
        </p:nvSpPr>
        <p:spPr>
          <a:xfrm>
            <a:off x="411480" y="6038849"/>
            <a:ext cx="7886700" cy="46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decoder expands a compact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 back into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individual output lines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exactly one active at a time.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23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007EF-6697-4E8F-FF01-00D5F735A2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Decoders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C10AE3-A8D7-9F80-1A33-26CE382D28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7" b="74065"/>
          <a:stretch>
            <a:fillRect/>
          </a:stretch>
        </p:blipFill>
        <p:spPr bwMode="auto">
          <a:xfrm>
            <a:off x="521025" y="1676400"/>
            <a:ext cx="81019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80CA9733-512B-2CEE-D53F-6A7D87E38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80" b="24684"/>
          <a:stretch>
            <a:fillRect/>
          </a:stretch>
        </p:blipFill>
        <p:spPr bwMode="auto">
          <a:xfrm>
            <a:off x="521025" y="2438400"/>
            <a:ext cx="81019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1DD97FC6-AFE0-761F-4F22-3E2E15DC8A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15" b="12340"/>
          <a:stretch>
            <a:fillRect/>
          </a:stretch>
        </p:blipFill>
        <p:spPr bwMode="auto">
          <a:xfrm>
            <a:off x="521025" y="4800600"/>
            <a:ext cx="81019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B5A81D2-10D6-7F28-8BA2-82F6297451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62" b="4622"/>
          <a:stretch>
            <a:fillRect/>
          </a:stretch>
        </p:blipFill>
        <p:spPr bwMode="auto">
          <a:xfrm>
            <a:off x="521025" y="5410200"/>
            <a:ext cx="81019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453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D832-6B64-0019-66A2-F8CCBCDBB4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a decoder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3543FF-28A1-5F36-0FC6-AF9789C1F1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8" b="36754"/>
          <a:stretch>
            <a:fillRect/>
          </a:stretch>
        </p:blipFill>
        <p:spPr bwMode="auto">
          <a:xfrm>
            <a:off x="609600" y="1752601"/>
            <a:ext cx="79248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A62AF802-E009-9693-1134-D02A0A06F4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45" b="1734"/>
          <a:stretch>
            <a:fillRect/>
          </a:stretch>
        </p:blipFill>
        <p:spPr bwMode="auto">
          <a:xfrm>
            <a:off x="609600" y="4267201"/>
            <a:ext cx="7924800" cy="1752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334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D99E9-393B-BED6-839A-6E438BDAC8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a decoder – the circuit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6953D3-1FB9-CD56-71BF-D90E29CE10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7"/>
          <a:stretch>
            <a:fillRect/>
          </a:stretch>
        </p:blipFill>
        <p:spPr bwMode="auto">
          <a:xfrm>
            <a:off x="421312" y="1981200"/>
            <a:ext cx="830137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306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444DC9-85E6-B933-7AF8-5E49FF174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Decoders can include an </a:t>
            </a:r>
            <a:r>
              <a:rPr lang="en-US" i="1" dirty="0"/>
              <a:t>enable</a:t>
            </a:r>
            <a:r>
              <a:rPr lang="en-US" dirty="0"/>
              <a:t> input (</a:t>
            </a:r>
            <a:r>
              <a:rPr lang="en-US" i="1" dirty="0"/>
              <a:t>EN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 = 0 disables the decoder (all outputs are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 = 1 enables the decoder (exactly 1 output is 1 depending on the input)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128A-4E60-2CD5-5497-E5C03452A5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Decoders with ‘enable’ inputs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BE615-CFD5-43B7-6898-591FAD77A9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46"/>
          <a:stretch>
            <a:fillRect/>
          </a:stretch>
        </p:blipFill>
        <p:spPr bwMode="auto">
          <a:xfrm>
            <a:off x="304800" y="3581400"/>
            <a:ext cx="8229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360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9F0A6-5438-C5BB-AACA-8449FB554E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3 – to – 8 decoder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C15614-230F-86C5-F4C1-0BE0F68F83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914400" y="1676400"/>
            <a:ext cx="7315200" cy="4501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81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DB7FA-8EAF-0F9D-0D4F-AFF49AA90B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a 3 - to - 8 decoder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713BB2-3394-DC5A-20CC-5CA31D11A6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04"/>
          <a:stretch>
            <a:fillRect/>
          </a:stretch>
        </p:blipFill>
        <p:spPr bwMode="auto">
          <a:xfrm>
            <a:off x="1332045" y="1752600"/>
            <a:ext cx="6479909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CDCEA2-3193-9E8A-9555-A6BAFEB2BA5E}"/>
              </a:ext>
            </a:extLst>
          </p:cNvPr>
          <p:cNvSpPr txBox="1"/>
          <p:nvPr/>
        </p:nvSpPr>
        <p:spPr>
          <a:xfrm>
            <a:off x="1143000" y="5257800"/>
            <a:ext cx="7048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mbria" panose="02040503050406030204" pitchFamily="18" charset="0"/>
              </a:rPr>
              <a:t>C</a:t>
            </a:r>
            <a:r>
              <a:rPr lang="en-IN" dirty="0">
                <a:solidFill>
                  <a:srgbClr val="C00000"/>
                </a:solidFill>
                <a:latin typeface="Cambria" panose="02040503050406030204" pitchFamily="18" charset="0"/>
              </a:rPr>
              <a:t>an you think of a ‘hierarchical’ design for this decoder, like we did with half and full adders?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65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8BC7-DC4A-988D-09D6-9B090649A4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Hierarchical decoder design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2DDB04-1A3E-A1A6-77B5-306A543196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381000" y="1752600"/>
            <a:ext cx="7010400" cy="4428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0B94D0-4402-5AE6-8031-930E612A538E}"/>
              </a:ext>
            </a:extLst>
          </p:cNvPr>
          <p:cNvSpPr txBox="1"/>
          <p:nvPr/>
        </p:nvSpPr>
        <p:spPr>
          <a:xfrm>
            <a:off x="6248400" y="4191000"/>
            <a:ext cx="2667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</a:rPr>
              <a:t>Verify this circuit: use equations for the 2-to-4 decoder to derive equations for 3-to-8 decoder!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8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890F6-614D-53DB-6B5D-D61B03DD45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Notice anything special about the 3-to-8 decoder output expressions?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50D26C9A-D849-27AA-7609-28EF6A5E36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03"/>
          <a:stretch>
            <a:fillRect/>
          </a:stretch>
        </p:blipFill>
        <p:spPr bwMode="auto">
          <a:xfrm>
            <a:off x="50064" y="2247900"/>
            <a:ext cx="9043872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3431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587A-EAC1-7EA7-6C25-C39C2046A9C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Example: building an adder with decoder(s)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38DB58-77C3-D343-D5EC-78126745E4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05" t="31224" r="54584" b="12277"/>
          <a:stretch>
            <a:fillRect/>
          </a:stretch>
        </p:blipFill>
        <p:spPr bwMode="auto">
          <a:xfrm>
            <a:off x="304800" y="1447800"/>
            <a:ext cx="1828800" cy="2362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83A12A-132B-FCE3-244C-68A2103F52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30" t="30520" r="24766" b="22727"/>
          <a:stretch>
            <a:fillRect/>
          </a:stretch>
        </p:blipFill>
        <p:spPr bwMode="auto">
          <a:xfrm>
            <a:off x="2347547" y="1524000"/>
            <a:ext cx="2986454" cy="1374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B4F613-43AC-91F9-5E28-FBAF7C0615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5" t="14935" r="24528" b="50000"/>
          <a:stretch>
            <a:fillRect/>
          </a:stretch>
        </p:blipFill>
        <p:spPr bwMode="auto">
          <a:xfrm>
            <a:off x="5791200" y="1529469"/>
            <a:ext cx="2895600" cy="1368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B63BC90-A621-D3F8-D1E4-D36B55CCEC07}"/>
              </a:ext>
            </a:extLst>
          </p:cNvPr>
          <p:cNvGrpSpPr/>
          <p:nvPr/>
        </p:nvGrpSpPr>
        <p:grpSpPr>
          <a:xfrm>
            <a:off x="3467100" y="3048000"/>
            <a:ext cx="3998408" cy="1465217"/>
            <a:chOff x="4848122" y="2335768"/>
            <a:chExt cx="3998408" cy="146521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3B4F613-43AC-91F9-5E28-FBAF7C0615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81" t="73377" r="16981"/>
            <a:stretch>
              <a:fillRect/>
            </a:stretch>
          </p:blipFill>
          <p:spPr bwMode="auto">
            <a:xfrm>
              <a:off x="4884130" y="2640567"/>
              <a:ext cx="3962400" cy="1160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2F78C8-4ABA-40E7-6195-ECA53157AF2C}"/>
                </a:ext>
              </a:extLst>
            </p:cNvPr>
            <p:cNvSpPr txBox="1"/>
            <p:nvPr/>
          </p:nvSpPr>
          <p:spPr>
            <a:xfrm>
              <a:off x="4848122" y="2335768"/>
              <a:ext cx="990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ambria" panose="02040503050406030204" pitchFamily="18" charset="0"/>
                </a:rPr>
                <a:t>Verify:</a:t>
              </a:r>
              <a:endParaRPr lang="en-IN" dirty="0"/>
            </a:p>
          </p:txBody>
        </p:sp>
      </p:grp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CC5F39DA-44EA-599E-660B-A4D78599A1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1" t="53095" r="20482" b="32325"/>
          <a:stretch>
            <a:fillRect/>
          </a:stretch>
        </p:blipFill>
        <p:spPr bwMode="auto">
          <a:xfrm>
            <a:off x="238125" y="3733800"/>
            <a:ext cx="1962150" cy="609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14DFF9-835A-149B-5410-492EAB98DD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3" t="33544" r="20093" b="25949"/>
          <a:stretch>
            <a:fillRect/>
          </a:stretch>
        </p:blipFill>
        <p:spPr bwMode="auto">
          <a:xfrm>
            <a:off x="3200400" y="4633350"/>
            <a:ext cx="48768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3A6CF4-3ADA-74C9-C2F8-788B429A742B}"/>
              </a:ext>
            </a:extLst>
          </p:cNvPr>
          <p:cNvSpPr txBox="1"/>
          <p:nvPr/>
        </p:nvSpPr>
        <p:spPr>
          <a:xfrm>
            <a:off x="152400" y="4633350"/>
            <a:ext cx="3048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</a:rPr>
              <a:t>Reuse the same decoder for both outputs: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</a:rPr>
              <a:t>(Dis)advantages of this approach?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55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81E9E-9406-775A-0B91-C9AA9882F2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Active-high and active-low decoders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DBE0B3-B028-FC75-DD67-ECC92C1DD2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1066800" y="1600200"/>
            <a:ext cx="7010400" cy="4511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501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F3528-AC97-9F45-AFFB-3D1813A0AA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Active-low decoders are maxterm generators!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0D7BFD-79A9-9062-BDEE-1D10D6A8C4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22"/>
          <a:stretch>
            <a:fillRect/>
          </a:stretch>
        </p:blipFill>
        <p:spPr bwMode="auto">
          <a:xfrm>
            <a:off x="762000" y="1676400"/>
            <a:ext cx="7620000" cy="419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8373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7D8E2-D42A-AD95-5B74-80C37ABC25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Active-low decoder example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F70728-A62B-8C28-4D56-3FFCACC684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45"/>
          <a:stretch>
            <a:fillRect/>
          </a:stretch>
        </p:blipFill>
        <p:spPr bwMode="auto">
          <a:xfrm>
            <a:off x="715622" y="1828800"/>
            <a:ext cx="771275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2104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9341EC-6055-9C16-0BAE-B0001D81B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5181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Opposite function as that of a decoder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Takes 2</a:t>
            </a:r>
            <a:r>
              <a:rPr lang="en-US" baseline="30000" dirty="0"/>
              <a:t>n</a:t>
            </a:r>
            <a:r>
              <a:rPr lang="en-US" dirty="0"/>
              <a:t> inputs, and generates the binary equivalent of the input rank as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80115-1442-19FD-FCF3-E77D101745E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Encoders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CECB3E-953B-0740-74FC-C0EE2888B6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1" t="15682" r="23077" b="8108"/>
          <a:stretch>
            <a:fillRect/>
          </a:stretch>
        </p:blipFill>
        <p:spPr bwMode="auto">
          <a:xfrm>
            <a:off x="6248400" y="1447800"/>
            <a:ext cx="2362200" cy="2513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9CDF68-3602-AB85-EF86-F82AEB44B6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6" t="14000" r="1485"/>
          <a:stretch>
            <a:fillRect/>
          </a:stretch>
        </p:blipFill>
        <p:spPr bwMode="auto">
          <a:xfrm>
            <a:off x="1828800" y="3352800"/>
            <a:ext cx="4537149" cy="311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28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D3EE2A-8EC2-D80C-4A36-071B12562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630" y="1524000"/>
            <a:ext cx="3845169" cy="2971800"/>
          </a:xfrm>
        </p:spPr>
        <p:txBody>
          <a:bodyPr>
            <a:normAutofit/>
          </a:bodyPr>
          <a:lstStyle/>
          <a:p>
            <a:pPr marL="0" indent="0"/>
            <a:r>
              <a:rPr lang="en-US" sz="2000" dirty="0"/>
              <a:t>Two ambiguities associated with the design of the simple encoder shown previously: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It assumes only one input to be active. If two inputs are simultaneously active, output becomes invalid.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</a:t>
            </a:r>
            <a:r>
              <a:rPr lang="en-US" sz="2000" baseline="-25000" dirty="0"/>
              <a:t>0</a:t>
            </a:r>
            <a:r>
              <a:rPr lang="en-US" sz="2000" dirty="0"/>
              <a:t> = 1 or all Ds = 0 will both generate an output of 0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17578-1D8E-F85C-B631-C5861BC841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Encoder design issues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821063-70F7-6276-EE26-08C6FA41DE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6" t="14000" r="1485"/>
          <a:stretch>
            <a:fillRect/>
          </a:stretch>
        </p:blipFill>
        <p:spPr bwMode="auto">
          <a:xfrm>
            <a:off x="4191000" y="1524000"/>
            <a:ext cx="4537149" cy="311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68AF0D5-D7E5-DCB1-8E6C-0515C0F8330E}"/>
              </a:ext>
            </a:extLst>
          </p:cNvPr>
          <p:cNvSpPr txBox="1">
            <a:spLocks/>
          </p:cNvSpPr>
          <p:nvPr/>
        </p:nvSpPr>
        <p:spPr bwMode="auto">
          <a:xfrm>
            <a:off x="422030" y="4800600"/>
            <a:ext cx="8306119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2000" dirty="0">
                <a:solidFill>
                  <a:srgbClr val="FF0000"/>
                </a:solidFill>
              </a:rPr>
              <a:t>Solution: Priority encoders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Multiple asserted inputs allowed; one has priority over others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Separate indication of no-asserted-inputs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0827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601C1-C8AF-EF29-4D0B-74760904E2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Example: 4-to-2 priority encoder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0BDB98-092F-996E-2334-5588FE2AED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66"/>
          <a:stretch>
            <a:fillRect/>
          </a:stretch>
        </p:blipFill>
        <p:spPr bwMode="auto">
          <a:xfrm>
            <a:off x="3625203" y="1524000"/>
            <a:ext cx="5249167" cy="2118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B3CEAD7-E198-3D06-5661-7DC67F5F1ADE}"/>
              </a:ext>
            </a:extLst>
          </p:cNvPr>
          <p:cNvSpPr txBox="1">
            <a:spLocks/>
          </p:cNvSpPr>
          <p:nvPr/>
        </p:nvSpPr>
        <p:spPr bwMode="auto">
          <a:xfrm>
            <a:off x="152400" y="1600200"/>
            <a:ext cx="3505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two or more inputs are simultaneously 1, output will correspond to the rank of the highest priority input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‘Valid’ output indicator, set to 1 only if at least one of the inputs is 1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98AC7E-927D-8975-81E0-1B607AE94B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44"/>
          <a:stretch>
            <a:fillRect/>
          </a:stretch>
        </p:blipFill>
        <p:spPr bwMode="auto">
          <a:xfrm>
            <a:off x="3773286" y="3810000"/>
            <a:ext cx="4953000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68DEF6-6591-2F63-62CF-3527363A02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12"/>
          <a:stretch>
            <a:fillRect/>
          </a:stretch>
        </p:blipFill>
        <p:spPr bwMode="auto">
          <a:xfrm>
            <a:off x="250876" y="4419600"/>
            <a:ext cx="338772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277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7AFB7-4E1E-C7D9-77DA-204B30E48F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Use of binary encoder (example)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C27C66-FB20-6B64-6F51-33840CB288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2"/>
          <a:stretch>
            <a:fillRect/>
          </a:stretch>
        </p:blipFill>
        <p:spPr bwMode="auto">
          <a:xfrm>
            <a:off x="1552153" y="2209800"/>
            <a:ext cx="6039693" cy="3242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530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92195-9809-AD2E-6F01-B25E22535EF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Uses of priority encoders (example)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13883C-F55F-F837-8584-3DAD1F64E7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40"/>
          <a:stretch>
            <a:fillRect/>
          </a:stretch>
        </p:blipFill>
        <p:spPr bwMode="auto">
          <a:xfrm>
            <a:off x="1391047" y="1828800"/>
            <a:ext cx="6361905" cy="3361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2849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12535</TotalTime>
  <Words>453</Words>
  <Application>Microsoft Office PowerPoint</Application>
  <PresentationFormat>On-screen Show (4:3)</PresentationFormat>
  <Paragraphs>66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562</cp:revision>
  <dcterms:created xsi:type="dcterms:W3CDTF">2010-01-15T20:22:21Z</dcterms:created>
  <dcterms:modified xsi:type="dcterms:W3CDTF">2026-08-30T13:19:29Z</dcterms:modified>
</cp:coreProperties>
</file>