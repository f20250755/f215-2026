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LxNa0s3j5McYF7bNZRhrHBg74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88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1020d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1020d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f711020df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72f58a4c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37" name="Google Shape;137;g3f72f58a4c4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3f72f58a4c4_0_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72f58a4c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44" name="Google Shape;144;g3f72f58a4c4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f72f58a4c4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72f58a4c4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51" name="Google Shape;151;g3f72f58a4c4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f72f58a4c4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72f58a4c4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58" name="Google Shape;158;g3f72f58a4c4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3f72f58a4c4_0_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72f58a4c4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65" name="Google Shape;165;g3f72f58a4c4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g3f72f58a4c4_0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72f58a4c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72" name="Google Shape;172;g3f72f58a4c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f72f58a4c4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2f58a4c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79" name="Google Shape;179;g3f72f58a4c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f72f58a4c4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1020df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86" name="Google Shape;186;g3f711020df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f711020df0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2f58a4c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94" name="Google Shape;194;g3f72f58a4c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3f72f58a4c4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11020df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02" name="Google Shape;202;g3f711020df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3f711020df0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11020d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11" name="Google Shape;211;g3f711020df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g3f711020df0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72f58a4c4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19" name="Google Shape;219;g3f72f58a4c4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g3f72f58a4c4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711020df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27" name="Google Shape;227;g3f711020df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3f711020df0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72f58a4c4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35" name="Google Shape;235;g3f72f58a4c4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3f72f58a4c4_0_2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711020df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42" name="Google Shape;242;g3f711020df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g3f711020df0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711020df0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51" name="Google Shape;251;g3f711020df0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g3f711020df0_0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711020df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59" name="Google Shape;259;g3f711020df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3f711020df0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711020df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80" name="Google Shape;280;g3f711020df0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3f711020df0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72f58a4c4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67" name="Google Shape;267;g3f72f58a4c4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3f72f58a4c4_0_2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72f58a4c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89" name="Google Shape;289;g3f72f58a4c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g3f72f58a4c4_0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711020df0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98" name="Google Shape;298;g3f711020df0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3f711020df0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72f58a4c4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06" name="Google Shape;306;g3f72f58a4c4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g3f72f58a4c4_0_2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711020df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16" name="Google Shape;316;g3f711020df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f711020df0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72f58a4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39" name="Google Shape;339;g3f72f58a4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g3f72f58a4c4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72f58a4c4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48" name="Google Shape;348;g3f72f58a4c4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g3f72f58a4c4_0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72f58a4c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58" name="Google Shape;358;g3f72f58a4c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g3f72f58a4c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72f58a4c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81" name="Google Shape;381;g3f72f58a4c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g3f72f58a4c4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72f58a4c4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91" name="Google Shape;391;g3f72f58a4c4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" name="Google Shape;392;g3f72f58a4c4_0_2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72f58a4c4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398" name="Google Shape;398;g3f72f58a4c4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g3f72f58a4c4_0_2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72f58a4c4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405" name="Google Shape;405;g3f72f58a4c4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g3f72f58a4c4_0_2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72f58a4c4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413" name="Google Shape;413;g3f72f58a4c4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g3f72f58a4c4_0_3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72f58a4c4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421" name="Google Shape;421;g3f72f58a4c4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" name="Google Shape;422;g3f72f58a4c4_0_3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72f58a4c4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429" name="Google Shape;429;g3f72f58a4c4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0" name="Google Shape;430;g3f72f58a4c4_0_2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9abf918e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9abf918e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3f9abf918e0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9abf918e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f9abf918e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3f9abf918e0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72f58a4c4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451" name="Google Shape;451;g3f72f58a4c4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g3f72f58a4c4_0_1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9abf918e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f9abf918e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3f9abf918e0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9abf918e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9abf918e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3f9abf918e0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9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9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9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2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8" name="Google Shape;28;p2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" name="Google Shape;31;p20" descr="Picture 7.png"/>
          <p:cNvPicPr preferRelativeResize="0"/>
          <p:nvPr/>
        </p:nvPicPr>
        <p:blipFill rotWithShape="1">
          <a:blip r:embed="rId2">
            <a:alphaModFix/>
          </a:blip>
          <a:srcRect l="1923" b="5336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2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3" name="Google Shape;33;p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36;p2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7" name="Google Shape;37;p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2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>
            <a:spLocks noGrp="1"/>
          </p:cNvSpPr>
          <p:nvPr>
            <p:ph type="title"/>
          </p:nvPr>
        </p:nvSpPr>
        <p:spPr>
          <a:xfrm>
            <a:off x="1949150" y="3429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Verilog Introduction</a:t>
            </a:r>
            <a:endParaRPr/>
          </a:p>
        </p:txBody>
      </p:sp>
      <p:sp>
        <p:nvSpPr>
          <p:cNvPr id="124" name="Google Shape;124;p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Prof. GSS Chalapathi,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Prof. Saurabh Gandhi,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Prof. Ramesh Sambangi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711020df0_0_0"/>
          <p:cNvSpPr txBox="1">
            <a:spLocks noGrp="1"/>
          </p:cNvSpPr>
          <p:nvPr>
            <p:ph type="body" idx="1"/>
          </p:nvPr>
        </p:nvSpPr>
        <p:spPr>
          <a:xfrm>
            <a:off x="218850" y="1209136"/>
            <a:ext cx="8706300" cy="496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Traditional digital design</a:t>
            </a: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Specification	       Circuit 	     Logic Design		  Gates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For a small circuit, this is manageable.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But modern systems contain: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Millions/billions of transistors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Complex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datapaths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Memories and processors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High-speed communication interfaces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Manually designing and connecting gates becomes impractical.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Hardware Description Languages (HDLs)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1" name="Google Shape;131;g3f711020df0_0_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Do We Need HDL? </a:t>
            </a:r>
            <a:endParaRPr/>
          </a:p>
        </p:txBody>
      </p:sp>
      <p:sp>
        <p:nvSpPr>
          <p:cNvPr id="132" name="Google Shape;132;g3f711020df0_0_0"/>
          <p:cNvSpPr/>
          <p:nvPr/>
        </p:nvSpPr>
        <p:spPr>
          <a:xfrm>
            <a:off x="1892835" y="2002788"/>
            <a:ext cx="6147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C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711020df0_0_0"/>
          <p:cNvSpPr/>
          <p:nvPr/>
        </p:nvSpPr>
        <p:spPr>
          <a:xfrm>
            <a:off x="3549569" y="2002788"/>
            <a:ext cx="6147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C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711020df0_0_0"/>
          <p:cNvSpPr/>
          <p:nvPr/>
        </p:nvSpPr>
        <p:spPr>
          <a:xfrm>
            <a:off x="6014700" y="2002788"/>
            <a:ext cx="6147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C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uiExpand="1" build="p"/>
      <p:bldP spid="132" grpId="0" animBg="1"/>
      <p:bldP spid="133" grpId="0" animBg="1"/>
      <p:bldP spid="1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2f58a4c4_0_10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Why HDLs Contd…</a:t>
            </a:r>
            <a:endParaRPr/>
          </a:p>
        </p:txBody>
      </p:sp>
      <p:pic>
        <p:nvPicPr>
          <p:cNvPr id="141" name="Google Shape;141;g3f72f58a4c4_0_106"/>
          <p:cNvPicPr preferRelativeResize="0"/>
          <p:nvPr/>
        </p:nvPicPr>
        <p:blipFill rotWithShape="1">
          <a:blip r:embed="rId3">
            <a:alphaModFix/>
          </a:blip>
          <a:srcRect l="13724" t="33643" r="14725"/>
          <a:stretch/>
        </p:blipFill>
        <p:spPr>
          <a:xfrm>
            <a:off x="1148300" y="2427125"/>
            <a:ext cx="6324598" cy="32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72f58a4c4_0_11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Why HDLs Contd…</a:t>
            </a:r>
            <a:endParaRPr/>
          </a:p>
        </p:txBody>
      </p:sp>
      <p:pic>
        <p:nvPicPr>
          <p:cNvPr id="148" name="Google Shape;148;g3f72f58a4c4_0_113"/>
          <p:cNvPicPr preferRelativeResize="0"/>
          <p:nvPr/>
        </p:nvPicPr>
        <p:blipFill rotWithShape="1">
          <a:blip r:embed="rId3">
            <a:alphaModFix/>
          </a:blip>
          <a:srcRect l="6684" t="21936" r="9346"/>
          <a:stretch/>
        </p:blipFill>
        <p:spPr>
          <a:xfrm>
            <a:off x="738724" y="1789175"/>
            <a:ext cx="7666551" cy="446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2f58a4c4_0_12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Why HDLs Contd…</a:t>
            </a:r>
            <a:endParaRPr/>
          </a:p>
        </p:txBody>
      </p:sp>
      <p:pic>
        <p:nvPicPr>
          <p:cNvPr id="155" name="Google Shape;155;g3f72f58a4c4_0_121"/>
          <p:cNvPicPr preferRelativeResize="0"/>
          <p:nvPr/>
        </p:nvPicPr>
        <p:blipFill rotWithShape="1">
          <a:blip r:embed="rId3">
            <a:alphaModFix/>
          </a:blip>
          <a:srcRect t="17743"/>
          <a:stretch/>
        </p:blipFill>
        <p:spPr>
          <a:xfrm>
            <a:off x="152400" y="1876150"/>
            <a:ext cx="8839200" cy="420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2f58a4c4_0_12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Why HDLs Contd…</a:t>
            </a:r>
            <a:endParaRPr/>
          </a:p>
        </p:txBody>
      </p:sp>
      <p:pic>
        <p:nvPicPr>
          <p:cNvPr id="162" name="Google Shape;162;g3f72f58a4c4_0_128"/>
          <p:cNvPicPr preferRelativeResize="0"/>
          <p:nvPr/>
        </p:nvPicPr>
        <p:blipFill rotWithShape="1">
          <a:blip r:embed="rId3">
            <a:alphaModFix/>
          </a:blip>
          <a:srcRect t="17770"/>
          <a:stretch/>
        </p:blipFill>
        <p:spPr>
          <a:xfrm>
            <a:off x="152400" y="1934148"/>
            <a:ext cx="8839202" cy="41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2f58a4c4_0_13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Advantages of HDLs</a:t>
            </a:r>
            <a:endParaRPr/>
          </a:p>
        </p:txBody>
      </p:sp>
      <p:pic>
        <p:nvPicPr>
          <p:cNvPr id="169" name="Google Shape;169;g3f72f58a4c4_0_135"/>
          <p:cNvPicPr preferRelativeResize="0"/>
          <p:nvPr/>
        </p:nvPicPr>
        <p:blipFill rotWithShape="1">
          <a:blip r:embed="rId3">
            <a:alphaModFix/>
          </a:blip>
          <a:srcRect t="14763"/>
          <a:stretch/>
        </p:blipFill>
        <p:spPr>
          <a:xfrm>
            <a:off x="0" y="1600677"/>
            <a:ext cx="9143998" cy="491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72f58a4c4_0_88"/>
          <p:cNvSpPr txBox="1">
            <a:spLocks noGrp="1"/>
          </p:cNvSpPr>
          <p:nvPr>
            <p:ph type="body" idx="1"/>
          </p:nvPr>
        </p:nvSpPr>
        <p:spPr>
          <a:xfrm>
            <a:off x="304800" y="1493825"/>
            <a:ext cx="8636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three standard HDL’s that are supported by IEEE.</a:t>
            </a:r>
            <a:endParaRPr/>
          </a:p>
          <a:p>
            <a:pPr marL="457200" lvl="0" indent="-3810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400"/>
              <a:buChar char="❖"/>
            </a:pPr>
            <a:r>
              <a:rPr lang="en-US" b="1"/>
              <a:t>VHDL</a:t>
            </a:r>
            <a:r>
              <a:rPr lang="en-US"/>
              <a:t> (Very-High-Speed Integrated Circuits Hardware Description Language). Sometimes referred to as VHSIC HDL, this was developed from an initiative by US. Dept. of Defense. 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 b="1">
                <a:solidFill>
                  <a:srgbClr val="FF0000"/>
                </a:solidFill>
              </a:rPr>
              <a:t>IEEE 1076</a:t>
            </a:r>
            <a:r>
              <a:rPr lang="en-US">
                <a:solidFill>
                  <a:srgbClr val="FF0000"/>
                </a:solidFill>
              </a:rPr>
              <a:t>)</a:t>
            </a:r>
            <a:endParaRPr/>
          </a:p>
          <a:p>
            <a:pPr marL="457200" lvl="0" indent="-381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 b="1"/>
              <a:t>Verilog HDL</a:t>
            </a:r>
            <a:r>
              <a:rPr lang="en-US"/>
              <a:t> – developed by Cadence Data systems and later transferred to a consortium called Open Verilog International (OVI). 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 b="1">
                <a:solidFill>
                  <a:srgbClr val="FF0000"/>
                </a:solidFill>
              </a:rPr>
              <a:t>IEEE 1364</a:t>
            </a:r>
            <a:r>
              <a:rPr lang="en-US">
                <a:solidFill>
                  <a:srgbClr val="FF0000"/>
                </a:solidFill>
              </a:rPr>
              <a:t>)</a:t>
            </a:r>
            <a:endParaRPr b="1" i="1"/>
          </a:p>
          <a:p>
            <a:pPr marL="457200" lvl="0" indent="-381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 b="1" i="1"/>
              <a:t>SystemVerilog  - </a:t>
            </a:r>
            <a:r>
              <a:rPr lang="en-US"/>
              <a:t>SystemVerilog is essentially an extension of Verilog. Useful for Hardware design + advanced verification</a:t>
            </a:r>
            <a:r>
              <a:rPr lang="en-US" b="1" i="1"/>
              <a:t> </a:t>
            </a:r>
            <a:r>
              <a:rPr lang="en-US" b="1" i="1">
                <a:solidFill>
                  <a:srgbClr val="FF0000"/>
                </a:solidFill>
              </a:rPr>
              <a:t>IEEE 1800</a:t>
            </a:r>
            <a:endParaRPr b="1" i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76" name="Google Shape;176;g3f72f58a4c4_0_8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Types of HDL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2f58a4c4_0_98"/>
          <p:cNvSpPr txBox="1">
            <a:spLocks noGrp="1"/>
          </p:cNvSpPr>
          <p:nvPr>
            <p:ph type="body" idx="1"/>
          </p:nvPr>
        </p:nvSpPr>
        <p:spPr>
          <a:xfrm>
            <a:off x="209525" y="1493825"/>
            <a:ext cx="8934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HDL is </a:t>
            </a:r>
            <a:r>
              <a:rPr lang="en-US" b="1"/>
              <a:t>NOT </a:t>
            </a:r>
            <a:r>
              <a:rPr lang="en-US"/>
              <a:t>a software programming language.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Textual representation of Hardware constructs.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All statements in HDL code are executed in parallel.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Originally a modeling language for a very efficient event-driven digital logic simulator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Later pushed into use as a specification language for logic synthesis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Virtually every chip (FPGA, ASIC, etc.) is designed in part using Verilog. 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83" name="Google Shape;183;g3f72f58a4c4_0_9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Verilog HDL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f711020df0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846" y="0"/>
            <a:ext cx="391415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f711020df0_0_23"/>
          <p:cNvSpPr txBox="1">
            <a:spLocks noGrp="1"/>
          </p:cNvSpPr>
          <p:nvPr>
            <p:ph type="body" idx="1"/>
          </p:nvPr>
        </p:nvSpPr>
        <p:spPr>
          <a:xfrm>
            <a:off x="304800" y="1493825"/>
            <a:ext cx="5773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Specification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Define functionality, performance, power, area, technology, and interface requirements.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RTL Design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Describe the hardware using Verilog/SystemVerilog/ VHDL. 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Functional Verification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Check whether the RTL correctly implements the specification using simulation.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Logic Synthesis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Convert RTL into a gate-level netlist using standard-cell libraries.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Floorplanning &amp; Placement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Decide the physical locations of major blocks, memories, and I/O cells on the chip.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Place individual standard cells in their physical locations.</a:t>
            </a:r>
            <a:endParaRPr/>
          </a:p>
        </p:txBody>
      </p:sp>
      <p:sp>
        <p:nvSpPr>
          <p:cNvPr id="191" name="Google Shape;191;g3f711020df0_0_2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ASIC Design Flow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f72f58a4c4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846" y="0"/>
            <a:ext cx="391415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72f58a4c4_0_74"/>
          <p:cNvSpPr txBox="1">
            <a:spLocks noGrp="1"/>
          </p:cNvSpPr>
          <p:nvPr>
            <p:ph type="body" idx="1"/>
          </p:nvPr>
        </p:nvSpPr>
        <p:spPr>
          <a:xfrm>
            <a:off x="304800" y="1493825"/>
            <a:ext cx="5628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Layout &amp; GDSII Generation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Generate the final physical layout database used for manufacturing.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Layout verification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 It is the process of checking whether the physical layout  is correct, manufacturable, and electrically equivalent to the intended circuit before fabrication.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Implementation 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Semiconductor foundry manufactures the chip on silicon wafers. 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Package the die and perform electrical/functional testing before deployment.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99" name="Google Shape;199;g3f72f58a4c4_0_7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ASIC Design Flow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11020df0_0_1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 sz="2800"/>
              <a:t>The process of automatically generating a gate-level model from either a dataflow or a behavioral model is called </a:t>
            </a:r>
            <a:r>
              <a:rPr lang="en-US" sz="2800" b="1" i="1" u="sng"/>
              <a:t>Logic Synthesis</a:t>
            </a:r>
            <a:endParaRPr sz="2800" b="1" i="1" u="sng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206" name="Google Shape;206;g3f711020df0_0_1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 Synthesis?</a:t>
            </a:r>
            <a:endParaRPr/>
          </a:p>
        </p:txBody>
      </p:sp>
      <p:pic>
        <p:nvPicPr>
          <p:cNvPr id="207" name="Google Shape;207;g3f711020df0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300" y="3736001"/>
            <a:ext cx="7850700" cy="27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f711020df0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141" y="2956244"/>
            <a:ext cx="808672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711020df0_0_3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 module is basic building block in Verilog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It describes a piece of hardware from a simple AND gate to a full CPU.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It tells the EDA tools what pins exist, what logic to build, and how to connect it</a:t>
            </a:r>
            <a:endParaRPr/>
          </a:p>
        </p:txBody>
      </p:sp>
      <p:sp>
        <p:nvSpPr>
          <p:cNvPr id="215" name="Google Shape;215;g3f711020df0_0_3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Modules</a:t>
            </a:r>
            <a:endParaRPr/>
          </a:p>
        </p:txBody>
      </p:sp>
      <p:pic>
        <p:nvPicPr>
          <p:cNvPr id="216" name="Google Shape;216;g3f711020df0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2838" y="4113454"/>
            <a:ext cx="6133525" cy="14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f72f58a4c4_0_170"/>
          <p:cNvPicPr preferRelativeResize="0"/>
          <p:nvPr/>
        </p:nvPicPr>
        <p:blipFill rotWithShape="1">
          <a:blip r:embed="rId3">
            <a:alphaModFix/>
          </a:blip>
          <a:srcRect t="55381"/>
          <a:stretch/>
        </p:blipFill>
        <p:spPr>
          <a:xfrm>
            <a:off x="0" y="4481032"/>
            <a:ext cx="9144001" cy="237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72f58a4c4_0_17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Port list defines how the module communicates with the outside world.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Ports can be declared as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input, output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inout</a:t>
            </a:r>
            <a:r>
              <a:rPr lang="en-US"/>
              <a:t>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input : Signal flows into the module.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Read-only inside the module. Cannot be written to.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output : Signal flows out of the module.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Written inside the module, read by the parent.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inout : Bi-directional signal (e.g., data buses).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/>
              <a:t>Can be both read and written.</a:t>
            </a:r>
            <a:endParaRPr/>
          </a:p>
        </p:txBody>
      </p:sp>
      <p:sp>
        <p:nvSpPr>
          <p:cNvPr id="224" name="Google Shape;224;g3f72f58a4c4_0_17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Ports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711020df0_0_3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231" name="Google Shape;231;g3f711020df0_0_3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HDL Abstraction Levels</a:t>
            </a:r>
            <a:r>
              <a:rPr lang="en-US" sz="1100" b="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32" name="Google Shape;232;g3f711020df0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150" y="1118500"/>
            <a:ext cx="8926075" cy="54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72f58a4c4_0_27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Gate Level Modeling</a:t>
            </a:r>
            <a:endParaRPr/>
          </a:p>
        </p:txBody>
      </p:sp>
      <p:pic>
        <p:nvPicPr>
          <p:cNvPr id="239" name="Google Shape;239;g3f72f58a4c4_0_274" title="ChatGPT Image Aug 16, 2026, 10_06_51 PM.png"/>
          <p:cNvPicPr preferRelativeResize="0"/>
          <p:nvPr/>
        </p:nvPicPr>
        <p:blipFill rotWithShape="1">
          <a:blip r:embed="rId3">
            <a:alphaModFix/>
          </a:blip>
          <a:srcRect l="1363" t="9360" r="49961" b="1838"/>
          <a:stretch/>
        </p:blipFill>
        <p:spPr>
          <a:xfrm>
            <a:off x="1474900" y="1405975"/>
            <a:ext cx="5154500" cy="529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711020df0_0_5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Gate Level Abstraction</a:t>
            </a:r>
            <a:endParaRPr/>
          </a:p>
        </p:txBody>
      </p:sp>
      <p:pic>
        <p:nvPicPr>
          <p:cNvPr id="246" name="Google Shape;246;g3f711020df0_0_57"/>
          <p:cNvPicPr preferRelativeResize="0"/>
          <p:nvPr/>
        </p:nvPicPr>
        <p:blipFill rotWithShape="1">
          <a:blip r:embed="rId3">
            <a:alphaModFix/>
          </a:blip>
          <a:srcRect l="10099" t="55381" r="60567"/>
          <a:stretch/>
        </p:blipFill>
        <p:spPr>
          <a:xfrm>
            <a:off x="6875400" y="750825"/>
            <a:ext cx="2268599" cy="201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f711020df0_0_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2600" y="4144275"/>
            <a:ext cx="4031400" cy="238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f711020df0_0_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622" y="1371032"/>
            <a:ext cx="4783900" cy="53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f711020df0_0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095" y="1600676"/>
            <a:ext cx="7059526" cy="470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f711020df0_0_7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Dataflow Level</a:t>
            </a:r>
            <a:endParaRPr/>
          </a:p>
        </p:txBody>
      </p:sp>
      <p:pic>
        <p:nvPicPr>
          <p:cNvPr id="256" name="Google Shape;256;g3f711020df0_0_78"/>
          <p:cNvPicPr preferRelativeResize="0"/>
          <p:nvPr/>
        </p:nvPicPr>
        <p:blipFill rotWithShape="1">
          <a:blip r:embed="rId4">
            <a:alphaModFix/>
          </a:blip>
          <a:srcRect l="10099" t="55381" r="60567"/>
          <a:stretch/>
        </p:blipFill>
        <p:spPr>
          <a:xfrm>
            <a:off x="6875400" y="750825"/>
            <a:ext cx="2268599" cy="201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711020df0_0_87"/>
          <p:cNvSpPr txBox="1">
            <a:spLocks noGrp="1"/>
          </p:cNvSpPr>
          <p:nvPr>
            <p:ph type="body" idx="2"/>
          </p:nvPr>
        </p:nvSpPr>
        <p:spPr>
          <a:xfrm>
            <a:off x="304800" y="195897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Behavioral Level</a:t>
            </a:r>
            <a:endParaRPr/>
          </a:p>
        </p:txBody>
      </p:sp>
      <p:pic>
        <p:nvPicPr>
          <p:cNvPr id="263" name="Google Shape;263;g3f711020df0_0_87"/>
          <p:cNvPicPr preferRelativeResize="0"/>
          <p:nvPr/>
        </p:nvPicPr>
        <p:blipFill rotWithShape="1">
          <a:blip r:embed="rId3">
            <a:alphaModFix/>
          </a:blip>
          <a:srcRect l="10099" t="55381" r="60567"/>
          <a:stretch/>
        </p:blipFill>
        <p:spPr>
          <a:xfrm>
            <a:off x="6875400" y="750825"/>
            <a:ext cx="2268599" cy="201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f711020df0_0_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491297"/>
            <a:ext cx="6570599" cy="4764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f711020df0_0_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98" y="3035509"/>
            <a:ext cx="8912349" cy="37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f711020df0_0_72"/>
          <p:cNvSpPr txBox="1">
            <a:spLocks noGrp="1"/>
          </p:cNvSpPr>
          <p:nvPr>
            <p:ph type="body" idx="1"/>
          </p:nvPr>
        </p:nvSpPr>
        <p:spPr>
          <a:xfrm>
            <a:off x="304800" y="140684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process of creating objects from a module template is called </a:t>
            </a:r>
            <a:r>
              <a:rPr lang="en-US" i="1"/>
              <a:t>instantiation</a:t>
            </a:r>
            <a:r>
              <a:rPr lang="en-US"/>
              <a:t>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objects are called </a:t>
            </a:r>
            <a:r>
              <a:rPr lang="en-US" i="1"/>
              <a:t>instances</a:t>
            </a:r>
            <a:r>
              <a:rPr lang="en-US"/>
              <a:t>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It is illegal to nest modules.</a:t>
            </a:r>
            <a:endParaRPr/>
          </a:p>
        </p:txBody>
      </p:sp>
      <p:sp>
        <p:nvSpPr>
          <p:cNvPr id="285" name="Google Shape;285;g3f711020df0_0_7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Module Instantiation</a:t>
            </a:r>
            <a:endParaRPr/>
          </a:p>
        </p:txBody>
      </p:sp>
      <p:pic>
        <p:nvPicPr>
          <p:cNvPr id="286" name="Google Shape;286;g3f711020df0_0_72"/>
          <p:cNvPicPr preferRelativeResize="0"/>
          <p:nvPr/>
        </p:nvPicPr>
        <p:blipFill rotWithShape="1">
          <a:blip r:embed="rId4">
            <a:alphaModFix/>
          </a:blip>
          <a:srcRect t="3589" b="25201"/>
          <a:stretch/>
        </p:blipFill>
        <p:spPr>
          <a:xfrm>
            <a:off x="4861800" y="2731600"/>
            <a:ext cx="4282201" cy="19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72f58a4c4_0_289"/>
          <p:cNvSpPr txBox="1">
            <a:spLocks noGrp="1"/>
          </p:cNvSpPr>
          <p:nvPr>
            <p:ph type="body" idx="1"/>
          </p:nvPr>
        </p:nvSpPr>
        <p:spPr>
          <a:xfrm>
            <a:off x="304800" y="1479325"/>
            <a:ext cx="8227500" cy="3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100" b="1"/>
              <a:t>Connection by Ordered List (Positional) : </a:t>
            </a:r>
            <a:r>
              <a:rPr lang="en-US" sz="2100"/>
              <a:t>This method maps your external signals to the module ports based strictly on the order they appear in the original module declaration. </a:t>
            </a: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100" b="1"/>
              <a:t>Connection by Name (Named Association): </a:t>
            </a:r>
            <a:r>
              <a:rPr lang="en-US" sz="2100"/>
              <a:t>This method explicitly links the sub-module’s internal port name to your external signal. The syntax uses a dot (.) followed by the internal port name, with the external signal inside parentheses.</a:t>
            </a:r>
            <a:endParaRPr sz="2100"/>
          </a:p>
        </p:txBody>
      </p:sp>
      <p:sp>
        <p:nvSpPr>
          <p:cNvPr id="271" name="Google Shape;271;g3f72f58a4c4_0_28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Connecting Ports to External Signals</a:t>
            </a:r>
            <a:endParaRPr/>
          </a:p>
        </p:txBody>
      </p:sp>
      <p:pic>
        <p:nvPicPr>
          <p:cNvPr id="272" name="Google Shape;272;g3f72f58a4c4_0_289"/>
          <p:cNvPicPr preferRelativeResize="0"/>
          <p:nvPr/>
        </p:nvPicPr>
        <p:blipFill rotWithShape="1">
          <a:blip r:embed="rId3">
            <a:alphaModFix/>
          </a:blip>
          <a:srcRect l="70297" t="9648" r="2839" b="25205"/>
          <a:stretch/>
        </p:blipFill>
        <p:spPr>
          <a:xfrm>
            <a:off x="8230775" y="2133975"/>
            <a:ext cx="913225" cy="1400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g3f72f58a4c4_0_289"/>
          <p:cNvGrpSpPr/>
          <p:nvPr/>
        </p:nvGrpSpPr>
        <p:grpSpPr>
          <a:xfrm>
            <a:off x="-5099" y="4115399"/>
            <a:ext cx="9143999" cy="2403475"/>
            <a:chOff x="-11624" y="4115399"/>
            <a:chExt cx="9143999" cy="2403475"/>
          </a:xfrm>
        </p:grpSpPr>
        <p:pic>
          <p:nvPicPr>
            <p:cNvPr id="274" name="Google Shape;274;g3f72f58a4c4_0_28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1624" y="5303982"/>
              <a:ext cx="9143999" cy="1214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g3f72f58a4c4_0_289"/>
            <p:cNvPicPr preferRelativeResize="0"/>
            <p:nvPr/>
          </p:nvPicPr>
          <p:blipFill rotWithShape="1">
            <a:blip r:embed="rId5">
              <a:alphaModFix/>
            </a:blip>
            <a:srcRect b="53043"/>
            <a:stretch/>
          </p:blipFill>
          <p:spPr>
            <a:xfrm>
              <a:off x="6501275" y="4115399"/>
              <a:ext cx="2631100" cy="1390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g3f72f58a4c4_0_289"/>
            <p:cNvSpPr/>
            <p:nvPr/>
          </p:nvSpPr>
          <p:spPr>
            <a:xfrm>
              <a:off x="1924265" y="4441500"/>
              <a:ext cx="5451400" cy="1226725"/>
            </a:xfrm>
            <a:custGeom>
              <a:avLst/>
              <a:gdLst/>
              <a:ahLst/>
              <a:cxnLst/>
              <a:rect l="l" t="t" r="r" b="b"/>
              <a:pathLst>
                <a:path w="218056" h="49069" extrusionOk="0">
                  <a:moveTo>
                    <a:pt x="218056" y="0"/>
                  </a:moveTo>
                  <a:cubicBezTo>
                    <a:pt x="215185" y="566"/>
                    <a:pt x="216838" y="2654"/>
                    <a:pt x="200829" y="3393"/>
                  </a:cubicBezTo>
                  <a:cubicBezTo>
                    <a:pt x="184821" y="4133"/>
                    <a:pt x="153239" y="1479"/>
                    <a:pt x="122005" y="4437"/>
                  </a:cubicBezTo>
                  <a:cubicBezTo>
                    <a:pt x="90771" y="7395"/>
                    <a:pt x="33697" y="13703"/>
                    <a:pt x="13425" y="21142"/>
                  </a:cubicBezTo>
                  <a:cubicBezTo>
                    <a:pt x="-6847" y="28581"/>
                    <a:pt x="2550" y="44415"/>
                    <a:pt x="375" y="49069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g3f72f58a4c4_0_289"/>
            <p:cNvSpPr/>
            <p:nvPr/>
          </p:nvSpPr>
          <p:spPr>
            <a:xfrm>
              <a:off x="3238675" y="4650300"/>
              <a:ext cx="4137000" cy="991825"/>
            </a:xfrm>
            <a:custGeom>
              <a:avLst/>
              <a:gdLst/>
              <a:ahLst/>
              <a:cxnLst/>
              <a:rect l="l" t="t" r="r" b="b"/>
              <a:pathLst>
                <a:path w="165480" h="39673" extrusionOk="0">
                  <a:moveTo>
                    <a:pt x="165480" y="0"/>
                  </a:moveTo>
                  <a:cubicBezTo>
                    <a:pt x="160434" y="609"/>
                    <a:pt x="142424" y="2828"/>
                    <a:pt x="135203" y="3654"/>
                  </a:cubicBezTo>
                  <a:cubicBezTo>
                    <a:pt x="127982" y="4481"/>
                    <a:pt x="140205" y="3262"/>
                    <a:pt x="122152" y="4959"/>
                  </a:cubicBezTo>
                  <a:cubicBezTo>
                    <a:pt x="104099" y="6656"/>
                    <a:pt x="47243" y="8048"/>
                    <a:pt x="26884" y="13834"/>
                  </a:cubicBezTo>
                  <a:cubicBezTo>
                    <a:pt x="6525" y="19620"/>
                    <a:pt x="4481" y="35367"/>
                    <a:pt x="0" y="39673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f72f58a4c4_0_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01" y="2961930"/>
            <a:ext cx="9144001" cy="3838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f72f58a4c4_0_46"/>
          <p:cNvSpPr txBox="1">
            <a:spLocks noGrp="1"/>
          </p:cNvSpPr>
          <p:nvPr>
            <p:ph type="body" idx="1"/>
          </p:nvPr>
        </p:nvSpPr>
        <p:spPr>
          <a:xfrm>
            <a:off x="304800" y="1377833"/>
            <a:ext cx="8644200" cy="3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 module defines a reusable block of logic (like a function in C).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process of creating objects from a module template is called </a:t>
            </a:r>
            <a:r>
              <a:rPr lang="en-US" i="1"/>
              <a:t>instantiation</a:t>
            </a:r>
            <a:r>
              <a:rPr lang="en-US"/>
              <a:t>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objects are called </a:t>
            </a:r>
            <a:r>
              <a:rPr lang="en-US" i="1"/>
              <a:t>instances</a:t>
            </a:r>
            <a:r>
              <a:rPr lang="en-US"/>
              <a:t>.</a:t>
            </a:r>
            <a:endParaRPr/>
          </a:p>
        </p:txBody>
      </p:sp>
      <p:sp>
        <p:nvSpPr>
          <p:cNvPr id="294" name="Google Shape;294;g3f72f58a4c4_0_4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Module Instantiation contd..</a:t>
            </a:r>
            <a:endParaRPr/>
          </a:p>
        </p:txBody>
      </p:sp>
      <p:sp>
        <p:nvSpPr>
          <p:cNvPr id="295" name="Google Shape;295;g3f72f58a4c4_0_46"/>
          <p:cNvSpPr/>
          <p:nvPr/>
        </p:nvSpPr>
        <p:spPr>
          <a:xfrm>
            <a:off x="5092050" y="2804075"/>
            <a:ext cx="3856800" cy="14007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.a(a[0]) → Port connection</a:t>
            </a:r>
            <a:endParaRPr sz="2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711020df0_0_109"/>
          <p:cNvSpPr txBox="1">
            <a:spLocks noGrp="1"/>
          </p:cNvSpPr>
          <p:nvPr>
            <p:ph type="body" idx="1"/>
          </p:nvPr>
        </p:nvSpPr>
        <p:spPr>
          <a:xfrm>
            <a:off x="304800" y="1467724"/>
            <a:ext cx="8689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The instances can have different levels of abstraction</a:t>
            </a:r>
            <a:endParaRPr sz="2300"/>
          </a:p>
          <a:p>
            <a:pPr marL="457200" lvl="0" indent="-3746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It is illegal to nest modules.</a:t>
            </a:r>
            <a:endParaRPr sz="230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 sz="2300"/>
              <a:t>Helps in building complex designs from simpler, reusable modules</a:t>
            </a:r>
            <a:r>
              <a:rPr lang="en-US"/>
              <a:t> 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02" name="Google Shape;302;g3f711020df0_0_10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Module Instantiation contd..</a:t>
            </a:r>
            <a:endParaRPr/>
          </a:p>
        </p:txBody>
      </p:sp>
      <p:pic>
        <p:nvPicPr>
          <p:cNvPr id="303" name="Google Shape;303;g3f711020df0_0_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39707"/>
            <a:ext cx="9144001" cy="3771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72f58a4c4_0_28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Design Methodology</a:t>
            </a:r>
            <a:endParaRPr/>
          </a:p>
        </p:txBody>
      </p:sp>
      <p:pic>
        <p:nvPicPr>
          <p:cNvPr id="310" name="Google Shape;310;g3f72f58a4c4_0_280"/>
          <p:cNvPicPr preferRelativeResize="0"/>
          <p:nvPr/>
        </p:nvPicPr>
        <p:blipFill rotWithShape="1">
          <a:blip r:embed="rId3">
            <a:alphaModFix/>
          </a:blip>
          <a:srcRect t="15297"/>
          <a:stretch/>
        </p:blipFill>
        <p:spPr>
          <a:xfrm>
            <a:off x="652816" y="1295400"/>
            <a:ext cx="7956834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f72f58a4c4_0_2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448" y="3868000"/>
            <a:ext cx="7633100" cy="26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72f58a4c4_0_280"/>
          <p:cNvSpPr txBox="1"/>
          <p:nvPr/>
        </p:nvSpPr>
        <p:spPr>
          <a:xfrm>
            <a:off x="6918886" y="1354213"/>
            <a:ext cx="21168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 sz="32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72f58a4c4_0_280"/>
          <p:cNvSpPr txBox="1"/>
          <p:nvPr/>
        </p:nvSpPr>
        <p:spPr>
          <a:xfrm>
            <a:off x="6766811" y="4188913"/>
            <a:ext cx="21168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 sz="32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711020df0_0_103"/>
          <p:cNvSpPr txBox="1">
            <a:spLocks noGrp="1"/>
          </p:cNvSpPr>
          <p:nvPr>
            <p:ph type="body" idx="1"/>
          </p:nvPr>
        </p:nvSpPr>
        <p:spPr>
          <a:xfrm>
            <a:off x="304800" y="1493835"/>
            <a:ext cx="82296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❖"/>
            </a:pPr>
            <a:r>
              <a:rPr lang="en-US" i="1"/>
              <a:t>Stimulus</a:t>
            </a:r>
            <a:r>
              <a:rPr lang="en-US"/>
              <a:t> or </a:t>
            </a:r>
            <a:r>
              <a:rPr lang="en-US" i="1"/>
              <a:t>testbench </a:t>
            </a:r>
            <a:r>
              <a:rPr lang="en-US"/>
              <a:t>is used to test the functionality of the design block.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The DUT cannot run by itself. 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/>
              <a:t>Stimulus generates the necessary clock signals and input data sequences to exercise every feature of your design.</a:t>
            </a:r>
            <a:endParaRPr/>
          </a:p>
        </p:txBody>
      </p:sp>
      <p:sp>
        <p:nvSpPr>
          <p:cNvPr id="320" name="Google Shape;320;g3f711020df0_0_10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Components of a Simulation</a:t>
            </a:r>
            <a:endParaRPr/>
          </a:p>
        </p:txBody>
      </p:sp>
      <p:grpSp>
        <p:nvGrpSpPr>
          <p:cNvPr id="321" name="Google Shape;321;g3f711020df0_0_103"/>
          <p:cNvGrpSpPr/>
          <p:nvPr/>
        </p:nvGrpSpPr>
        <p:grpSpPr>
          <a:xfrm>
            <a:off x="4653359" y="3428943"/>
            <a:ext cx="4426087" cy="3043479"/>
            <a:chOff x="-440653" y="2901729"/>
            <a:chExt cx="5213909" cy="3585203"/>
          </a:xfrm>
        </p:grpSpPr>
        <p:grpSp>
          <p:nvGrpSpPr>
            <p:cNvPr id="322" name="Google Shape;322;g3f711020df0_0_103"/>
            <p:cNvGrpSpPr/>
            <p:nvPr/>
          </p:nvGrpSpPr>
          <p:grpSpPr>
            <a:xfrm>
              <a:off x="930844" y="4036504"/>
              <a:ext cx="1682250" cy="1899428"/>
              <a:chOff x="4961550" y="3094072"/>
              <a:chExt cx="1682250" cy="1899428"/>
            </a:xfrm>
          </p:grpSpPr>
          <p:cxnSp>
            <p:nvCxnSpPr>
              <p:cNvPr id="323" name="Google Shape;323;g3f711020df0_0_103"/>
              <p:cNvCxnSpPr/>
              <p:nvPr/>
            </p:nvCxnSpPr>
            <p:spPr>
              <a:xfrm>
                <a:off x="4961550" y="3094075"/>
                <a:ext cx="14400" cy="318900"/>
              </a:xfrm>
              <a:prstGeom prst="straightConnector1">
                <a:avLst/>
              </a:prstGeom>
              <a:noFill/>
              <a:ln w="242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24" name="Google Shape;324;g3f711020df0_0_103"/>
              <p:cNvCxnSpPr/>
              <p:nvPr/>
            </p:nvCxnSpPr>
            <p:spPr>
              <a:xfrm>
                <a:off x="6629389" y="3094075"/>
                <a:ext cx="14400" cy="318900"/>
              </a:xfrm>
              <a:prstGeom prst="straightConnector1">
                <a:avLst/>
              </a:prstGeom>
              <a:noFill/>
              <a:ln w="242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25" name="Google Shape;325;g3f711020df0_0_103"/>
              <p:cNvCxnSpPr/>
              <p:nvPr/>
            </p:nvCxnSpPr>
            <p:spPr>
              <a:xfrm>
                <a:off x="5571150" y="4674600"/>
                <a:ext cx="14400" cy="318900"/>
              </a:xfrm>
              <a:prstGeom prst="straightConnector1">
                <a:avLst/>
              </a:prstGeom>
              <a:noFill/>
              <a:ln w="242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26" name="Google Shape;326;g3f711020df0_0_103"/>
              <p:cNvCxnSpPr/>
              <p:nvPr/>
            </p:nvCxnSpPr>
            <p:spPr>
              <a:xfrm>
                <a:off x="6629400" y="4674600"/>
                <a:ext cx="14400" cy="318900"/>
              </a:xfrm>
              <a:prstGeom prst="straightConnector1">
                <a:avLst/>
              </a:prstGeom>
              <a:noFill/>
              <a:ln w="242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27" name="Google Shape;327;g3f711020df0_0_103"/>
              <p:cNvCxnSpPr/>
              <p:nvPr/>
            </p:nvCxnSpPr>
            <p:spPr>
              <a:xfrm>
                <a:off x="5795482" y="3094072"/>
                <a:ext cx="14400" cy="318900"/>
              </a:xfrm>
              <a:prstGeom prst="straightConnector1">
                <a:avLst/>
              </a:prstGeom>
              <a:noFill/>
              <a:ln w="242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328" name="Google Shape;328;g3f711020df0_0_103"/>
            <p:cNvGrpSpPr/>
            <p:nvPr/>
          </p:nvGrpSpPr>
          <p:grpSpPr>
            <a:xfrm>
              <a:off x="-440653" y="2901729"/>
              <a:ext cx="5213909" cy="3585203"/>
              <a:chOff x="3642131" y="1973797"/>
              <a:chExt cx="5213909" cy="3585203"/>
            </a:xfrm>
          </p:grpSpPr>
          <p:sp>
            <p:nvSpPr>
              <p:cNvPr id="329" name="Google Shape;329;g3f711020df0_0_103"/>
              <p:cNvSpPr/>
              <p:nvPr/>
            </p:nvSpPr>
            <p:spPr>
              <a:xfrm>
                <a:off x="3642131" y="2095500"/>
                <a:ext cx="5045700" cy="3463500"/>
              </a:xfrm>
              <a:prstGeom prst="rect">
                <a:avLst/>
              </a:prstGeom>
              <a:noFill/>
              <a:ln w="242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7625" tIns="77625" rIns="77625" bIns="77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88"/>
                  <a:buFont typeface="Arial"/>
                  <a:buNone/>
                </a:pPr>
                <a:endParaRPr sz="1188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g3f711020df0_0_103"/>
              <p:cNvSpPr/>
              <p:nvPr/>
            </p:nvSpPr>
            <p:spPr>
              <a:xfrm>
                <a:off x="4642550" y="3429000"/>
                <a:ext cx="3030300" cy="1245600"/>
              </a:xfrm>
              <a:prstGeom prst="rect">
                <a:avLst/>
              </a:prstGeom>
              <a:noFill/>
              <a:ln w="161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7625" tIns="77625" rIns="77625" bIns="77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37"/>
                  <a:buFont typeface="Arial"/>
                  <a:buNone/>
                </a:pPr>
                <a:r>
                  <a:rPr lang="en-US" sz="203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DUT</a:t>
                </a:r>
                <a:endParaRPr sz="2037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37"/>
                  <a:buFont typeface="Arial"/>
                  <a:buNone/>
                </a:pPr>
                <a:r>
                  <a:rPr lang="en-US" sz="203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(Ex: Full adder)</a:t>
                </a:r>
                <a:endParaRPr sz="2037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g3f711020df0_0_103"/>
              <p:cNvSpPr txBox="1"/>
              <p:nvPr/>
            </p:nvSpPr>
            <p:spPr>
              <a:xfrm>
                <a:off x="6785440" y="1973797"/>
                <a:ext cx="2070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625" tIns="77625" rIns="77625" bIns="776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16"/>
                  <a:buFont typeface="Arial"/>
                  <a:buNone/>
                </a:pPr>
                <a:r>
                  <a:rPr lang="en-US" sz="2716" b="0" i="0" u="none" strike="noStrike" cap="non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 bench</a:t>
                </a:r>
                <a:endParaRPr sz="2716" b="0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g3f711020df0_0_103"/>
              <p:cNvSpPr txBox="1"/>
              <p:nvPr/>
            </p:nvSpPr>
            <p:spPr>
              <a:xfrm>
                <a:off x="4614898" y="2502132"/>
                <a:ext cx="849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625" tIns="77625" rIns="77625" bIns="776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16"/>
                  <a:buFont typeface="Arial"/>
                  <a:buNone/>
                </a:pPr>
                <a:r>
                  <a:rPr lang="en-US" sz="2716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t_a</a:t>
                </a:r>
                <a:endParaRPr sz="2716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g3f711020df0_0_103"/>
              <p:cNvSpPr txBox="1"/>
              <p:nvPr/>
            </p:nvSpPr>
            <p:spPr>
              <a:xfrm>
                <a:off x="5452585" y="2493551"/>
                <a:ext cx="11103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625" tIns="77625" rIns="77625" bIns="776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16"/>
                  <a:buFont typeface="Arial"/>
                  <a:buNone/>
                </a:pPr>
                <a:r>
                  <a:rPr lang="en-US" sz="2716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t_b</a:t>
                </a:r>
                <a:endParaRPr sz="2716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g3f711020df0_0_103"/>
              <p:cNvSpPr txBox="1"/>
              <p:nvPr/>
            </p:nvSpPr>
            <p:spPr>
              <a:xfrm>
                <a:off x="6295103" y="2502132"/>
                <a:ext cx="15360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625" tIns="77625" rIns="77625" bIns="776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16"/>
                  <a:buFont typeface="Arial"/>
                  <a:buNone/>
                </a:pPr>
                <a:r>
                  <a:rPr lang="en-US" sz="2716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t_cin</a:t>
                </a:r>
                <a:endParaRPr sz="2716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g3f711020df0_0_103"/>
              <p:cNvSpPr txBox="1"/>
              <p:nvPr/>
            </p:nvSpPr>
            <p:spPr>
              <a:xfrm>
                <a:off x="4850015" y="4787124"/>
                <a:ext cx="12954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625" tIns="77625" rIns="77625" bIns="776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16"/>
                  <a:buFont typeface="Arial"/>
                  <a:buNone/>
                </a:pPr>
                <a:r>
                  <a:rPr lang="en-US" sz="2716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t_sum</a:t>
                </a:r>
                <a:endParaRPr sz="2716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g3f711020df0_0_103"/>
              <p:cNvSpPr txBox="1"/>
              <p:nvPr/>
            </p:nvSpPr>
            <p:spPr>
              <a:xfrm>
                <a:off x="6184767" y="4787124"/>
                <a:ext cx="1680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625" tIns="77625" rIns="77625" bIns="776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16"/>
                  <a:buFont typeface="Arial"/>
                  <a:buNone/>
                </a:pPr>
                <a:r>
                  <a:rPr lang="en-US" sz="2716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t_cout</a:t>
                </a:r>
                <a:endParaRPr sz="2716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72f58a4c4_0_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Simulation contd..</a:t>
            </a:r>
            <a:endParaRPr/>
          </a:p>
        </p:txBody>
      </p:sp>
      <p:pic>
        <p:nvPicPr>
          <p:cNvPr id="343" name="Google Shape;343;g3f72f58a4c4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950" y="3022850"/>
            <a:ext cx="5516725" cy="31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f72f58a4c4_0_1"/>
          <p:cNvSpPr txBox="1"/>
          <p:nvPr/>
        </p:nvSpPr>
        <p:spPr>
          <a:xfrm>
            <a:off x="1960250" y="6182350"/>
            <a:ext cx="50457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72f58a4c4_0_1"/>
          <p:cNvSpPr txBox="1"/>
          <p:nvPr/>
        </p:nvSpPr>
        <p:spPr>
          <a:xfrm>
            <a:off x="452375" y="1615175"/>
            <a:ext cx="835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 is instantiate both testbench and DUT in a dummy Top-level module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72f58a4c4_0_14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Simulation contd..</a:t>
            </a:r>
            <a:endParaRPr/>
          </a:p>
        </p:txBody>
      </p:sp>
      <p:pic>
        <p:nvPicPr>
          <p:cNvPr id="352" name="Google Shape;352;g3f72f58a4c4_0_1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6450" y="4994400"/>
            <a:ext cx="2665776" cy="1526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f72f58a4c4_0_149"/>
          <p:cNvSpPr txBox="1"/>
          <p:nvPr/>
        </p:nvSpPr>
        <p:spPr>
          <a:xfrm>
            <a:off x="1960250" y="6182350"/>
            <a:ext cx="50457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72f58a4c4_0_149"/>
          <p:cNvSpPr txBox="1"/>
          <p:nvPr/>
        </p:nvSpPr>
        <p:spPr>
          <a:xfrm>
            <a:off x="89900" y="1223704"/>
            <a:ext cx="8713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should testbench input values declared as reg type?   Data items for the inputs will be written by the testbench and should hold their values between assignments.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contrast, the outputs will simply derive their values from the module outputs and thus require wire nets.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g3f72f58a4c4_0_149"/>
          <p:cNvPicPr preferRelativeResize="0"/>
          <p:nvPr/>
        </p:nvPicPr>
        <p:blipFill rotWithShape="1">
          <a:blip r:embed="rId4">
            <a:alphaModFix/>
          </a:blip>
          <a:srcRect r="16290" b="74480"/>
          <a:stretch/>
        </p:blipFill>
        <p:spPr>
          <a:xfrm>
            <a:off x="89900" y="3521150"/>
            <a:ext cx="7317451" cy="134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72f58a4c4_0_1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Stimulus example</a:t>
            </a:r>
            <a:endParaRPr/>
          </a:p>
        </p:txBody>
      </p:sp>
      <p:pic>
        <p:nvPicPr>
          <p:cNvPr id="362" name="Google Shape;362;g3f72f58a4c4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447800"/>
            <a:ext cx="8741181" cy="525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g3f72f58a4c4_0_10"/>
          <p:cNvGrpSpPr/>
          <p:nvPr/>
        </p:nvGrpSpPr>
        <p:grpSpPr>
          <a:xfrm>
            <a:off x="6531770" y="630676"/>
            <a:ext cx="2585056" cy="1777544"/>
            <a:chOff x="-440653" y="2901729"/>
            <a:chExt cx="5213909" cy="3585203"/>
          </a:xfrm>
        </p:grpSpPr>
        <p:grpSp>
          <p:nvGrpSpPr>
            <p:cNvPr id="364" name="Google Shape;364;g3f72f58a4c4_0_10"/>
            <p:cNvGrpSpPr/>
            <p:nvPr/>
          </p:nvGrpSpPr>
          <p:grpSpPr>
            <a:xfrm>
              <a:off x="930844" y="4036504"/>
              <a:ext cx="1682250" cy="1899428"/>
              <a:chOff x="4961550" y="3094072"/>
              <a:chExt cx="1682250" cy="1899428"/>
            </a:xfrm>
          </p:grpSpPr>
          <p:cxnSp>
            <p:nvCxnSpPr>
              <p:cNvPr id="365" name="Google Shape;365;g3f72f58a4c4_0_10"/>
              <p:cNvCxnSpPr/>
              <p:nvPr/>
            </p:nvCxnSpPr>
            <p:spPr>
              <a:xfrm>
                <a:off x="4961550" y="3094075"/>
                <a:ext cx="14400" cy="318900"/>
              </a:xfrm>
              <a:prstGeom prst="straightConnector1">
                <a:avLst/>
              </a:prstGeom>
              <a:noFill/>
              <a:ln w="141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6" name="Google Shape;366;g3f72f58a4c4_0_10"/>
              <p:cNvCxnSpPr/>
              <p:nvPr/>
            </p:nvCxnSpPr>
            <p:spPr>
              <a:xfrm>
                <a:off x="6629389" y="3094075"/>
                <a:ext cx="14400" cy="318900"/>
              </a:xfrm>
              <a:prstGeom prst="straightConnector1">
                <a:avLst/>
              </a:prstGeom>
              <a:noFill/>
              <a:ln w="141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7" name="Google Shape;367;g3f72f58a4c4_0_10"/>
              <p:cNvCxnSpPr/>
              <p:nvPr/>
            </p:nvCxnSpPr>
            <p:spPr>
              <a:xfrm>
                <a:off x="5571150" y="4674600"/>
                <a:ext cx="14400" cy="318900"/>
              </a:xfrm>
              <a:prstGeom prst="straightConnector1">
                <a:avLst/>
              </a:prstGeom>
              <a:noFill/>
              <a:ln w="141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8" name="Google Shape;368;g3f72f58a4c4_0_10"/>
              <p:cNvCxnSpPr/>
              <p:nvPr/>
            </p:nvCxnSpPr>
            <p:spPr>
              <a:xfrm>
                <a:off x="6629400" y="4674600"/>
                <a:ext cx="14400" cy="318900"/>
              </a:xfrm>
              <a:prstGeom prst="straightConnector1">
                <a:avLst/>
              </a:prstGeom>
              <a:noFill/>
              <a:ln w="141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9" name="Google Shape;369;g3f72f58a4c4_0_10"/>
              <p:cNvCxnSpPr/>
              <p:nvPr/>
            </p:nvCxnSpPr>
            <p:spPr>
              <a:xfrm>
                <a:off x="5795482" y="3094072"/>
                <a:ext cx="14400" cy="318900"/>
              </a:xfrm>
              <a:prstGeom prst="straightConnector1">
                <a:avLst/>
              </a:prstGeom>
              <a:noFill/>
              <a:ln w="141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370" name="Google Shape;370;g3f72f58a4c4_0_10"/>
            <p:cNvGrpSpPr/>
            <p:nvPr/>
          </p:nvGrpSpPr>
          <p:grpSpPr>
            <a:xfrm>
              <a:off x="-440653" y="2901729"/>
              <a:ext cx="5213909" cy="3585203"/>
              <a:chOff x="3642131" y="1973797"/>
              <a:chExt cx="5213909" cy="3585203"/>
            </a:xfrm>
          </p:grpSpPr>
          <p:sp>
            <p:nvSpPr>
              <p:cNvPr id="371" name="Google Shape;371;g3f72f58a4c4_0_10"/>
              <p:cNvSpPr/>
              <p:nvPr/>
            </p:nvSpPr>
            <p:spPr>
              <a:xfrm>
                <a:off x="3642131" y="2095500"/>
                <a:ext cx="5045700" cy="3463500"/>
              </a:xfrm>
              <a:prstGeom prst="rect">
                <a:avLst/>
              </a:prstGeom>
              <a:noFill/>
              <a:ln w="141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325" tIns="45325" rIns="45325" bIns="45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94"/>
                  <a:buFont typeface="Arial"/>
                  <a:buNone/>
                </a:pPr>
                <a:endParaRPr sz="694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g3f72f58a4c4_0_10"/>
              <p:cNvSpPr/>
              <p:nvPr/>
            </p:nvSpPr>
            <p:spPr>
              <a:xfrm>
                <a:off x="4642550" y="3429000"/>
                <a:ext cx="3030300" cy="12456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325" tIns="45325" rIns="45325" bIns="45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90"/>
                  <a:buFont typeface="Arial"/>
                  <a:buNone/>
                </a:pPr>
                <a:r>
                  <a:rPr lang="en-US" sz="119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DUT</a:t>
                </a:r>
                <a:endParaRPr sz="119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90"/>
                  <a:buFont typeface="Arial"/>
                  <a:buNone/>
                </a:pPr>
                <a:r>
                  <a:rPr lang="en-US" sz="119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(Ex: Full adder)</a:t>
                </a:r>
                <a:endParaRPr sz="119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g3f72f58a4c4_0_10"/>
              <p:cNvSpPr txBox="1"/>
              <p:nvPr/>
            </p:nvSpPr>
            <p:spPr>
              <a:xfrm>
                <a:off x="6785440" y="1973797"/>
                <a:ext cx="2070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325" tIns="45325" rIns="45325" bIns="453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87"/>
                  <a:buFont typeface="Arial"/>
                  <a:buNone/>
                </a:pPr>
                <a:r>
                  <a:rPr lang="en-US" sz="1587" b="0" i="0" u="none" strike="noStrike" cap="non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 bench</a:t>
                </a:r>
                <a:endParaRPr sz="1587" b="0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g3f72f58a4c4_0_10"/>
              <p:cNvSpPr txBox="1"/>
              <p:nvPr/>
            </p:nvSpPr>
            <p:spPr>
              <a:xfrm>
                <a:off x="4614898" y="2502132"/>
                <a:ext cx="849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325" tIns="45325" rIns="45325" bIns="453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87"/>
                  <a:buFont typeface="Arial"/>
                  <a:buNone/>
                </a:pPr>
                <a:r>
                  <a:rPr lang="en-US" sz="1587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t_a</a:t>
                </a:r>
                <a:endParaRPr sz="158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g3f72f58a4c4_0_10"/>
              <p:cNvSpPr txBox="1"/>
              <p:nvPr/>
            </p:nvSpPr>
            <p:spPr>
              <a:xfrm>
                <a:off x="5452585" y="2493551"/>
                <a:ext cx="11103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325" tIns="45325" rIns="45325" bIns="453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87"/>
                  <a:buFont typeface="Arial"/>
                  <a:buNone/>
                </a:pPr>
                <a:r>
                  <a:rPr lang="en-US" sz="1587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t_b</a:t>
                </a:r>
                <a:endParaRPr sz="158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g3f72f58a4c4_0_10"/>
              <p:cNvSpPr txBox="1"/>
              <p:nvPr/>
            </p:nvSpPr>
            <p:spPr>
              <a:xfrm>
                <a:off x="6295103" y="2502132"/>
                <a:ext cx="15360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325" tIns="45325" rIns="45325" bIns="453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87"/>
                  <a:buFont typeface="Arial"/>
                  <a:buNone/>
                </a:pPr>
                <a:r>
                  <a:rPr lang="en-US" sz="1587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t_cin</a:t>
                </a:r>
                <a:endParaRPr sz="158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g3f72f58a4c4_0_10"/>
              <p:cNvSpPr txBox="1"/>
              <p:nvPr/>
            </p:nvSpPr>
            <p:spPr>
              <a:xfrm>
                <a:off x="4850015" y="4787124"/>
                <a:ext cx="12954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325" tIns="45325" rIns="45325" bIns="453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87"/>
                  <a:buFont typeface="Arial"/>
                  <a:buNone/>
                </a:pPr>
                <a:r>
                  <a:rPr lang="en-US" sz="1587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t_sum</a:t>
                </a:r>
                <a:endParaRPr sz="158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g3f72f58a4c4_0_10"/>
              <p:cNvSpPr txBox="1"/>
              <p:nvPr/>
            </p:nvSpPr>
            <p:spPr>
              <a:xfrm>
                <a:off x="6184767" y="4787124"/>
                <a:ext cx="1680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325" tIns="45325" rIns="45325" bIns="453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87"/>
                  <a:buFont typeface="Arial"/>
                  <a:buNone/>
                </a:pPr>
                <a:r>
                  <a:rPr lang="en-US" sz="1587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t_cout</a:t>
                </a:r>
                <a:endParaRPr sz="158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72f58a4c4_0_1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Simulation output</a:t>
            </a:r>
            <a:endParaRPr/>
          </a:p>
        </p:txBody>
      </p:sp>
      <p:pic>
        <p:nvPicPr>
          <p:cNvPr id="385" name="Google Shape;385;g3f72f58a4c4_0_17"/>
          <p:cNvPicPr preferRelativeResize="0"/>
          <p:nvPr/>
        </p:nvPicPr>
        <p:blipFill rotWithShape="1">
          <a:blip r:embed="rId3">
            <a:alphaModFix/>
          </a:blip>
          <a:srcRect l="24294" t="49439"/>
          <a:stretch/>
        </p:blipFill>
        <p:spPr>
          <a:xfrm>
            <a:off x="145325" y="4094475"/>
            <a:ext cx="7040980" cy="21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f72f58a4c4_0_17"/>
          <p:cNvPicPr preferRelativeResize="0"/>
          <p:nvPr/>
        </p:nvPicPr>
        <p:blipFill rotWithShape="1">
          <a:blip r:embed="rId4">
            <a:alphaModFix/>
          </a:blip>
          <a:srcRect r="8667"/>
          <a:stretch/>
        </p:blipFill>
        <p:spPr>
          <a:xfrm>
            <a:off x="14575" y="1387830"/>
            <a:ext cx="9120359" cy="21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72f58a4c4_0_17"/>
          <p:cNvSpPr/>
          <p:nvPr/>
        </p:nvSpPr>
        <p:spPr>
          <a:xfrm>
            <a:off x="6846400" y="3949500"/>
            <a:ext cx="2203800" cy="21603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 of $monitor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f72f58a4c4_0_17"/>
          <p:cNvSpPr txBox="1"/>
          <p:nvPr/>
        </p:nvSpPr>
        <p:spPr>
          <a:xfrm>
            <a:off x="410863" y="3429000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of Simulation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72f58a4c4_0_23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Gate Level Modeling</a:t>
            </a:r>
            <a:endParaRPr/>
          </a:p>
        </p:txBody>
      </p:sp>
      <p:pic>
        <p:nvPicPr>
          <p:cNvPr id="395" name="Google Shape;395;g3f72f58a4c4_0_237" title="ChatGPT Image Aug 16, 2026, 10_06_51 PM.png"/>
          <p:cNvPicPr preferRelativeResize="0"/>
          <p:nvPr/>
        </p:nvPicPr>
        <p:blipFill rotWithShape="1">
          <a:blip r:embed="rId3">
            <a:alphaModFix/>
          </a:blip>
          <a:srcRect t="8189"/>
          <a:stretch/>
        </p:blipFill>
        <p:spPr>
          <a:xfrm>
            <a:off x="-72500" y="1644199"/>
            <a:ext cx="9144001" cy="47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72f58a4c4_0_24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Gate Level Delay Modeling</a:t>
            </a:r>
            <a:endParaRPr/>
          </a:p>
        </p:txBody>
      </p:sp>
      <p:pic>
        <p:nvPicPr>
          <p:cNvPr id="402" name="Google Shape;402;g3f72f58a4c4_0_246"/>
          <p:cNvPicPr preferRelativeResize="0"/>
          <p:nvPr/>
        </p:nvPicPr>
        <p:blipFill rotWithShape="1">
          <a:blip r:embed="rId3">
            <a:alphaModFix/>
          </a:blip>
          <a:srcRect t="17492"/>
          <a:stretch/>
        </p:blipFill>
        <p:spPr>
          <a:xfrm>
            <a:off x="0" y="1806225"/>
            <a:ext cx="9144000" cy="41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72f58a4c4_0_29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Port Connection Rules</a:t>
            </a:r>
            <a:endParaRPr/>
          </a:p>
        </p:txBody>
      </p:sp>
      <p:pic>
        <p:nvPicPr>
          <p:cNvPr id="409" name="Google Shape;409;g3f72f58a4c4_0_2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0175" y="3599463"/>
            <a:ext cx="5838825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f72f58a4c4_0_297"/>
          <p:cNvSpPr txBox="1"/>
          <p:nvPr/>
        </p:nvSpPr>
        <p:spPr>
          <a:xfrm>
            <a:off x="304800" y="1580375"/>
            <a:ext cx="865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Rule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module only reads its input ports and cannot drive them internally, the internal port must be a 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wire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However, the external stimulus driving it can be a continuous assignment (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wire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or procedural assignment (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reg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72f58a4c4_0_30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Port Connection Rules</a:t>
            </a:r>
            <a:endParaRPr/>
          </a:p>
        </p:txBody>
      </p:sp>
      <p:pic>
        <p:nvPicPr>
          <p:cNvPr id="417" name="Google Shape;417;g3f72f58a4c4_0_3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0175" y="3599463"/>
            <a:ext cx="5838825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f72f58a4c4_0_304"/>
          <p:cNvSpPr txBox="1"/>
          <p:nvPr/>
        </p:nvSpPr>
        <p:spPr>
          <a:xfrm>
            <a:off x="304800" y="1580375"/>
            <a:ext cx="865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Rule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If you generate an output inside an 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always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block, its internal type must be 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reg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If you use a continuous 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statement, it must be a 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wire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Externally, it must connect to a 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wire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 that the module can continuously pass data up to the parent.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72f58a4c4_0_31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Port Connection Rules</a:t>
            </a:r>
            <a:endParaRPr/>
          </a:p>
        </p:txBody>
      </p:sp>
      <p:pic>
        <p:nvPicPr>
          <p:cNvPr id="425" name="Google Shape;425;g3f72f58a4c4_0_3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0175" y="3599463"/>
            <a:ext cx="5838825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f72f58a4c4_0_311"/>
          <p:cNvSpPr txBox="1"/>
          <p:nvPr/>
        </p:nvSpPr>
        <p:spPr>
          <a:xfrm>
            <a:off x="304800" y="1580375"/>
            <a:ext cx="8658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Inout Rule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Since bidirectional ports can change drive directions dynamically, they cannot hold state and must strictly be </a:t>
            </a:r>
            <a:r>
              <a:rPr lang="en-US" sz="2400" b="0" i="0" u="none" strike="noStrike" cap="non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wire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types on both sides.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72f58a4c4_0_22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3300"/>
              <a:t>&lt;sign&gt;&lt;size&gt;</a:t>
            </a:r>
            <a:r>
              <a:rPr lang="en-US" sz="3300">
                <a:latin typeface="Courier New"/>
                <a:ea typeface="Courier New"/>
                <a:cs typeface="Courier New"/>
                <a:sym typeface="Courier New"/>
              </a:rPr>
              <a:t>’</a:t>
            </a:r>
            <a:r>
              <a:rPr lang="en-US" sz="3300"/>
              <a:t>&lt;base format&gt;&lt;number&gt;</a:t>
            </a:r>
            <a:endParaRPr sz="330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33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 E.g: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4’b1111</a:t>
            </a:r>
            <a:r>
              <a:rPr lang="en-US"/>
              <a:t> //this is a 4-bit binary number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12’habc </a:t>
            </a:r>
            <a:r>
              <a:rPr lang="en-US"/>
              <a:t>//this is a 12-bit hexadecimal number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16’d255 </a:t>
            </a:r>
            <a:r>
              <a:rPr lang="en-US"/>
              <a:t>//this is a 16-bit decimal number </a:t>
            </a:r>
            <a:endParaRPr/>
          </a:p>
        </p:txBody>
      </p:sp>
      <p:sp>
        <p:nvSpPr>
          <p:cNvPr id="433" name="Google Shape;433;g3f72f58a4c4_0_22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Number Specification</a:t>
            </a:r>
            <a:endParaRPr/>
          </a:p>
        </p:txBody>
      </p:sp>
      <p:pic>
        <p:nvPicPr>
          <p:cNvPr id="434" name="Google Shape;434;g3f72f58a4c4_0_228"/>
          <p:cNvPicPr preferRelativeResize="0"/>
          <p:nvPr/>
        </p:nvPicPr>
        <p:blipFill rotWithShape="1">
          <a:blip r:embed="rId3">
            <a:alphaModFix/>
          </a:blip>
          <a:srcRect l="53382" t="29205" b="17345"/>
          <a:stretch/>
        </p:blipFill>
        <p:spPr>
          <a:xfrm>
            <a:off x="5704125" y="4181473"/>
            <a:ext cx="3381876" cy="230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9abf918e0_0_3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 b="1"/>
              <a:t>Nets:</a:t>
            </a:r>
            <a:endParaRPr sz="2300" b="1"/>
          </a:p>
          <a:p>
            <a:pPr marL="457200" lvl="0" indent="-374650" algn="l" rtl="0">
              <a:spcBef>
                <a:spcPts val="48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Nets represents a physical connection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Does not store a value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Driven continuously by a source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Declared using keyword 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wire.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 b="1"/>
              <a:t>Registers:</a:t>
            </a:r>
            <a:endParaRPr sz="2300" b="1"/>
          </a:p>
          <a:p>
            <a:pPr marL="457200" lvl="0" indent="-374650" algn="l" rtl="0">
              <a:spcBef>
                <a:spcPts val="48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Can hold a value until it is assigned again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Declared using keyword 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2300"/>
              <a:t>.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Used for signals assigned inside initial or always blocks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2300"/>
              <a:t> does not necessarily mean a hardware register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en-US" sz="2300"/>
              <a:t> → signed 32-bit integer, commonly used in testbenches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300"/>
              <a:t> → stores simulation time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real </a:t>
            </a:r>
            <a:r>
              <a:rPr lang="en-US" sz="2300"/>
              <a:t>→ floating-point value, mainly for simulation</a:t>
            </a:r>
            <a:endParaRPr sz="2300"/>
          </a:p>
        </p:txBody>
      </p:sp>
      <p:sp>
        <p:nvSpPr>
          <p:cNvPr id="441" name="Google Shape;441;g3f9abf918e0_0_3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Types in Verilog HDL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9abf918e0_0_4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❖"/>
            </a:pPr>
            <a:r>
              <a:rPr lang="en-US" b="1"/>
              <a:t>Vector</a:t>
            </a:r>
            <a:r>
              <a:rPr lang="en-US"/>
              <a:t> — Multiple Bits as One Signal 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Ex: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wire [3:0] A;      // 4-bit wire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reg  [7:0] B;      // 8-bit reg</a:t>
            </a:r>
            <a:endParaRPr/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❖"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3f9abf918e0_0_4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72f58a4c4_0_14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pic>
        <p:nvPicPr>
          <p:cNvPr id="455" name="Google Shape;455;g3f72f58a4c4_0_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" y="800413"/>
            <a:ext cx="9144001" cy="53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g3f9abf918e0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7708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3f9abf918e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0213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1263</Words>
  <Application>Microsoft Office PowerPoint</Application>
  <PresentationFormat>On-screen Show (4:3)</PresentationFormat>
  <Paragraphs>194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Comic Sans MS</vt:lpstr>
      <vt:lpstr>Courier New</vt:lpstr>
      <vt:lpstr>Office Theme</vt:lpstr>
      <vt:lpstr>Verilog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Saurabh Gandhi</cp:lastModifiedBy>
  <cp:revision>1</cp:revision>
  <dcterms:created xsi:type="dcterms:W3CDTF">2010-01-15T20:22:21Z</dcterms:created>
  <dcterms:modified xsi:type="dcterms:W3CDTF">2026-08-20T04:35:31Z</dcterms:modified>
</cp:coreProperties>
</file>